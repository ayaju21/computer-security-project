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330" r:id="rId4"/>
    <p:sldId id="292" r:id="rId5"/>
    <p:sldId id="258" r:id="rId6"/>
    <p:sldId id="259" r:id="rId7"/>
    <p:sldId id="277" r:id="rId8"/>
    <p:sldId id="329" r:id="rId9"/>
    <p:sldId id="332" r:id="rId10"/>
    <p:sldId id="333" r:id="rId11"/>
    <p:sldId id="338" r:id="rId12"/>
    <p:sldId id="336" r:id="rId13"/>
    <p:sldId id="334" r:id="rId14"/>
    <p:sldId id="335" r:id="rId15"/>
    <p:sldId id="275" r:id="rId16"/>
    <p:sldId id="261" r:id="rId17"/>
    <p:sldId id="284" r:id="rId18"/>
    <p:sldId id="267" r:id="rId19"/>
    <p:sldId id="327"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616"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22" d="100"/>
          <a:sy n="122" d="100"/>
        </p:scale>
        <p:origin x="322" y="91"/>
      </p:cViewPr>
      <p:guideLst>
        <p:guide orient="horz" pos="61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08a6ee8a1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08a6ee8a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8a87eb8680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8a87eb8680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8a87eb8680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8a87eb8680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16bcecd75a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16bcecd75a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6bcecd75ae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6bcecd75ae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8a87eb8680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18a87eb8680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16bcecd75ae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16bcecd75ae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6bcecd75ae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16bcecd75ae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10" name="Google Shape;10;p2"/>
          <p:cNvSpPr txBox="1">
            <a:spLocks noGrp="1"/>
          </p:cNvSpPr>
          <p:nvPr>
            <p:ph type="ctrTitle"/>
          </p:nvPr>
        </p:nvSpPr>
        <p:spPr>
          <a:xfrm>
            <a:off x="4139149" y="928938"/>
            <a:ext cx="4291500" cy="2961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4139125" y="3848863"/>
            <a:ext cx="4291500" cy="365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2"/>
        <p:cNvGrpSpPr/>
        <p:nvPr/>
      </p:nvGrpSpPr>
      <p:grpSpPr>
        <a:xfrm>
          <a:off x="0" y="0"/>
          <a:ext cx="0" cy="0"/>
          <a:chOff x="0" y="0"/>
          <a:chExt cx="0" cy="0"/>
        </a:xfrm>
      </p:grpSpPr>
      <p:pic>
        <p:nvPicPr>
          <p:cNvPr id="13" name="Google Shape;13;p3"/>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14" name="Google Shape;14;p3"/>
          <p:cNvSpPr txBox="1">
            <a:spLocks noGrp="1"/>
          </p:cNvSpPr>
          <p:nvPr>
            <p:ph type="title"/>
          </p:nvPr>
        </p:nvSpPr>
        <p:spPr>
          <a:xfrm>
            <a:off x="4634135" y="1434600"/>
            <a:ext cx="35328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pic>
        <p:nvPicPr>
          <p:cNvPr id="16" name="Google Shape;16;p4"/>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17" name="Google Shape;17;p4"/>
          <p:cNvSpPr txBox="1">
            <a:spLocks noGrp="1"/>
          </p:cNvSpPr>
          <p:nvPr>
            <p:ph type="body" idx="1"/>
          </p:nvPr>
        </p:nvSpPr>
        <p:spPr>
          <a:xfrm>
            <a:off x="1115100" y="1152475"/>
            <a:ext cx="6913800" cy="3456000"/>
          </a:xfrm>
          <a:prstGeom prst="rect">
            <a:avLst/>
          </a:prstGeom>
          <a:solidFill>
            <a:schemeClr val="dk1">
              <a:alpha val="56699"/>
            </a:schemeClr>
          </a:solidFill>
        </p:spPr>
        <p:txBody>
          <a:bodyPr spcFirstLastPara="1" wrap="square" lIns="91425" tIns="91425" rIns="91425" bIns="91425" anchor="t" anchorCtr="0">
            <a:noAutofit/>
          </a:bodyPr>
          <a:lstStyle>
            <a:lvl1pPr marL="457200" lvl="0" indent="-317500">
              <a:lnSpc>
                <a:spcPct val="100000"/>
              </a:lnSpc>
              <a:spcBef>
                <a:spcPts val="0"/>
              </a:spcBef>
              <a:spcAft>
                <a:spcPts val="0"/>
              </a:spcAft>
              <a:buClr>
                <a:srgbClr val="191919"/>
              </a:buClr>
              <a:buSzPts val="1400"/>
              <a:buFont typeface="Anaheim"/>
              <a:buChar char="●"/>
              <a:defRPr sz="1400">
                <a:solidFill>
                  <a:srgbClr val="F3F3F3"/>
                </a:solidFill>
                <a:latin typeface="Fira Sans Condensed" panose="020B0503050000020004"/>
                <a:ea typeface="Fira Sans Condensed" panose="020B0503050000020004"/>
                <a:cs typeface="Fira Sans Condensed" panose="020B0503050000020004"/>
                <a:sym typeface="Fira Sans Condensed" panose="020B0503050000020004"/>
              </a:defRPr>
            </a:lvl1pPr>
            <a:lvl2pPr marL="914400" lvl="1" indent="-317500">
              <a:spcBef>
                <a:spcPts val="0"/>
              </a:spcBef>
              <a:spcAft>
                <a:spcPts val="0"/>
              </a:spcAft>
              <a:buClr>
                <a:srgbClr val="191919"/>
              </a:buClr>
              <a:buSzPts val="1400"/>
              <a:buFont typeface="Roboto Condensed Light"/>
              <a:buChar char="○"/>
              <a:defRPr sz="1400">
                <a:latin typeface="Fira Sans Condensed" panose="020B0503050000020004"/>
                <a:ea typeface="Fira Sans Condensed" panose="020B0503050000020004"/>
                <a:cs typeface="Fira Sans Condensed" panose="020B0503050000020004"/>
                <a:sym typeface="Fira Sans Condensed" panose="020B0503050000020004"/>
              </a:defRPr>
            </a:lvl2pPr>
            <a:lvl3pPr marL="1371600" lvl="2" indent="-317500">
              <a:spcBef>
                <a:spcPts val="0"/>
              </a:spcBef>
              <a:spcAft>
                <a:spcPts val="0"/>
              </a:spcAft>
              <a:buClr>
                <a:srgbClr val="191919"/>
              </a:buClr>
              <a:buSzPts val="1400"/>
              <a:buFont typeface="Roboto Condensed Light"/>
              <a:buChar char="■"/>
              <a:defRPr sz="1200"/>
            </a:lvl3pPr>
            <a:lvl4pPr marL="1828800" lvl="3" indent="-317500">
              <a:spcBef>
                <a:spcPts val="0"/>
              </a:spcBef>
              <a:spcAft>
                <a:spcPts val="0"/>
              </a:spcAft>
              <a:buClr>
                <a:srgbClr val="191919"/>
              </a:buClr>
              <a:buSzPts val="1400"/>
              <a:buFont typeface="Roboto Condensed Light"/>
              <a:buChar char="●"/>
              <a:defRPr sz="1200"/>
            </a:lvl4pPr>
            <a:lvl5pPr marL="2286000" lvl="4" indent="-317500">
              <a:spcBef>
                <a:spcPts val="0"/>
              </a:spcBef>
              <a:spcAft>
                <a:spcPts val="0"/>
              </a:spcAft>
              <a:buClr>
                <a:srgbClr val="191919"/>
              </a:buClr>
              <a:buSzPts val="1400"/>
              <a:buFont typeface="Roboto Condensed Light"/>
              <a:buChar char="○"/>
              <a:defRPr sz="1200"/>
            </a:lvl5pPr>
            <a:lvl6pPr marL="2743200" lvl="5" indent="-317500">
              <a:spcBef>
                <a:spcPts val="0"/>
              </a:spcBef>
              <a:spcAft>
                <a:spcPts val="0"/>
              </a:spcAft>
              <a:buClr>
                <a:srgbClr val="191919"/>
              </a:buClr>
              <a:buSzPts val="1400"/>
              <a:buFont typeface="Roboto Condensed Light"/>
              <a:buChar char="■"/>
              <a:defRPr sz="1200"/>
            </a:lvl6pPr>
            <a:lvl7pPr marL="3200400" lvl="6" indent="-317500">
              <a:spcBef>
                <a:spcPts val="0"/>
              </a:spcBef>
              <a:spcAft>
                <a:spcPts val="0"/>
              </a:spcAft>
              <a:buClr>
                <a:srgbClr val="191919"/>
              </a:buClr>
              <a:buSzPts val="1400"/>
              <a:buFont typeface="Roboto Condensed Light"/>
              <a:buChar char="●"/>
              <a:defRPr sz="1200"/>
            </a:lvl7pPr>
            <a:lvl8pPr marL="3657600" lvl="7" indent="-317500">
              <a:spcBef>
                <a:spcPts val="0"/>
              </a:spcBef>
              <a:spcAft>
                <a:spcPts val="0"/>
              </a:spcAft>
              <a:buClr>
                <a:srgbClr val="191919"/>
              </a:buClr>
              <a:buSzPts val="1400"/>
              <a:buFont typeface="Roboto Condensed Light"/>
              <a:buChar char="○"/>
              <a:defRPr sz="1200"/>
            </a:lvl8pPr>
            <a:lvl9pPr marL="4114800" lvl="8" indent="-317500">
              <a:spcBef>
                <a:spcPts val="0"/>
              </a:spcBef>
              <a:spcAft>
                <a:spcPts val="0"/>
              </a:spcAft>
              <a:buClr>
                <a:srgbClr val="191919"/>
              </a:buClr>
              <a:buSzPts val="1400"/>
              <a:buFont typeface="Roboto Condensed Light"/>
              <a:buChar char="■"/>
              <a:defRPr sz="1200"/>
            </a:lvl9pPr>
          </a:lstStyle>
          <a:p>
            <a:endParaRPr/>
          </a:p>
        </p:txBody>
      </p:sp>
      <p:sp>
        <p:nvSpPr>
          <p:cNvPr id="18" name="Google Shape;18;p4"/>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1"/>
        </a:solidFill>
        <a:effectLst/>
      </p:bgPr>
    </p:bg>
    <p:spTree>
      <p:nvGrpSpPr>
        <p:cNvPr id="1" name="Shape 19"/>
        <p:cNvGrpSpPr/>
        <p:nvPr/>
      </p:nvGrpSpPr>
      <p:grpSpPr>
        <a:xfrm>
          <a:off x="0" y="0"/>
          <a:ext cx="0" cy="0"/>
          <a:chOff x="0" y="0"/>
          <a:chExt cx="0" cy="0"/>
        </a:xfrm>
      </p:grpSpPr>
      <p:pic>
        <p:nvPicPr>
          <p:cNvPr id="20" name="Google Shape;20;p5"/>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21" name="Google Shape;21;p5"/>
          <p:cNvSpPr txBox="1">
            <a:spLocks noGrp="1"/>
          </p:cNvSpPr>
          <p:nvPr>
            <p:ph type="subTitle" idx="1"/>
          </p:nvPr>
        </p:nvSpPr>
        <p:spPr>
          <a:xfrm flipH="1">
            <a:off x="5584135" y="2904500"/>
            <a:ext cx="1701300" cy="445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Rajdhani" panose="02000000000000000000"/>
              <a:buNone/>
              <a:defRPr sz="1800" b="1">
                <a:latin typeface="Rajdhani" panose="02000000000000000000"/>
                <a:ea typeface="Rajdhani" panose="02000000000000000000"/>
                <a:cs typeface="Rajdhani" panose="02000000000000000000"/>
                <a:sym typeface="Rajdhani" panose="02000000000000000000"/>
              </a:defRPr>
            </a:lvl1pPr>
            <a:lvl2pPr lvl="1"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2pPr>
            <a:lvl3pPr lvl="2"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3pPr>
            <a:lvl4pPr lvl="3"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4pPr>
            <a:lvl5pPr lvl="4"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5pPr>
            <a:lvl6pPr lvl="5"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6pPr>
            <a:lvl7pPr lvl="6"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7pPr>
            <a:lvl8pPr lvl="7"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8pPr>
            <a:lvl9pPr lvl="8"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9pPr>
          </a:lstStyle>
          <a:p>
            <a:endParaRPr/>
          </a:p>
        </p:txBody>
      </p:sp>
      <p:sp>
        <p:nvSpPr>
          <p:cNvPr id="22" name="Google Shape;22;p5"/>
          <p:cNvSpPr txBox="1">
            <a:spLocks noGrp="1"/>
          </p:cNvSpPr>
          <p:nvPr>
            <p:ph type="subTitle" idx="2"/>
          </p:nvPr>
        </p:nvSpPr>
        <p:spPr>
          <a:xfrm flipH="1">
            <a:off x="5079300" y="3229525"/>
            <a:ext cx="2711100" cy="73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Font typeface="Fira Sans Condensed" panose="020B0503050000020004"/>
              <a:buNone/>
              <a:defRPr sz="1400">
                <a:latin typeface="Fira Sans Condensed" panose="020B0503050000020004"/>
                <a:ea typeface="Fira Sans Condensed" panose="020B0503050000020004"/>
                <a:cs typeface="Fira Sans Condensed" panose="020B0503050000020004"/>
                <a:sym typeface="Fira Sans Condensed" panose="020B0503050000020004"/>
              </a:defRPr>
            </a:lvl1pPr>
            <a:lvl2pPr lvl="1"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2pPr>
            <a:lvl3pPr lvl="2"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3pPr>
            <a:lvl4pPr lvl="3"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4pPr>
            <a:lvl5pPr lvl="4"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5pPr>
            <a:lvl6pPr lvl="5"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6pPr>
            <a:lvl7pPr lvl="6"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7pPr>
            <a:lvl8pPr lvl="7"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8pPr>
            <a:lvl9pPr lvl="8"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9pPr>
          </a:lstStyle>
          <a:p>
            <a:endParaRPr/>
          </a:p>
        </p:txBody>
      </p:sp>
      <p:sp>
        <p:nvSpPr>
          <p:cNvPr id="23" name="Google Shape;23;p5"/>
          <p:cNvSpPr txBox="1">
            <a:spLocks noGrp="1"/>
          </p:cNvSpPr>
          <p:nvPr>
            <p:ph type="subTitle" idx="3"/>
          </p:nvPr>
        </p:nvSpPr>
        <p:spPr>
          <a:xfrm flipH="1">
            <a:off x="1858635" y="2904500"/>
            <a:ext cx="1701300" cy="445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Rajdhani" panose="02000000000000000000"/>
              <a:buNone/>
              <a:defRPr sz="1800" b="1">
                <a:latin typeface="Rajdhani" panose="02000000000000000000"/>
                <a:ea typeface="Rajdhani" panose="02000000000000000000"/>
                <a:cs typeface="Rajdhani" panose="02000000000000000000"/>
                <a:sym typeface="Rajdhani" panose="02000000000000000000"/>
              </a:defRPr>
            </a:lvl1pPr>
            <a:lvl2pPr lvl="1"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2pPr>
            <a:lvl3pPr lvl="2"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3pPr>
            <a:lvl4pPr lvl="3"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4pPr>
            <a:lvl5pPr lvl="4"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5pPr>
            <a:lvl6pPr lvl="5"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6pPr>
            <a:lvl7pPr lvl="6"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7pPr>
            <a:lvl8pPr lvl="7"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8pPr>
            <a:lvl9pPr lvl="8" algn="ctr" rtl="0">
              <a:lnSpc>
                <a:spcPct val="100000"/>
              </a:lnSpc>
              <a:spcBef>
                <a:spcPts val="0"/>
              </a:spcBef>
              <a:spcAft>
                <a:spcPts val="0"/>
              </a:spcAft>
              <a:buSzPts val="1400"/>
              <a:buFont typeface="Rajdhani" panose="02000000000000000000"/>
              <a:buNone/>
              <a:defRPr sz="1400" b="1">
                <a:latin typeface="Rajdhani" panose="02000000000000000000"/>
                <a:ea typeface="Rajdhani" panose="02000000000000000000"/>
                <a:cs typeface="Rajdhani" panose="02000000000000000000"/>
                <a:sym typeface="Rajdhani" panose="02000000000000000000"/>
              </a:defRPr>
            </a:lvl9pPr>
          </a:lstStyle>
          <a:p>
            <a:endParaRPr/>
          </a:p>
        </p:txBody>
      </p:sp>
      <p:sp>
        <p:nvSpPr>
          <p:cNvPr id="24" name="Google Shape;24;p5"/>
          <p:cNvSpPr txBox="1">
            <a:spLocks noGrp="1"/>
          </p:cNvSpPr>
          <p:nvPr>
            <p:ph type="subTitle" idx="4"/>
          </p:nvPr>
        </p:nvSpPr>
        <p:spPr>
          <a:xfrm flipH="1">
            <a:off x="1353800" y="3229525"/>
            <a:ext cx="2711100" cy="73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Font typeface="Fira Sans Condensed" panose="020B0503050000020004"/>
              <a:buNone/>
              <a:defRPr sz="1400">
                <a:latin typeface="Fira Sans Condensed" panose="020B0503050000020004"/>
                <a:ea typeface="Fira Sans Condensed" panose="020B0503050000020004"/>
                <a:cs typeface="Fira Sans Condensed" panose="020B0503050000020004"/>
                <a:sym typeface="Fira Sans Condensed" panose="020B0503050000020004"/>
              </a:defRPr>
            </a:lvl1pPr>
            <a:lvl2pPr lvl="1"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2pPr>
            <a:lvl3pPr lvl="2"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3pPr>
            <a:lvl4pPr lvl="3"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4pPr>
            <a:lvl5pPr lvl="4"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5pPr>
            <a:lvl6pPr lvl="5"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6pPr>
            <a:lvl7pPr lvl="6"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7pPr>
            <a:lvl8pPr lvl="7"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8pPr>
            <a:lvl9pPr lvl="8" algn="ctr" rtl="0">
              <a:lnSpc>
                <a:spcPct val="100000"/>
              </a:lnSpc>
              <a:spcBef>
                <a:spcPts val="0"/>
              </a:spcBef>
              <a:spcAft>
                <a:spcPts val="0"/>
              </a:spcAft>
              <a:buSzPts val="1100"/>
              <a:buFont typeface="Fira Sans Condensed" panose="020B0503050000020004"/>
              <a:buNone/>
              <a:defRPr sz="1100">
                <a:latin typeface="Fira Sans Condensed" panose="020B0503050000020004"/>
                <a:ea typeface="Fira Sans Condensed" panose="020B0503050000020004"/>
                <a:cs typeface="Fira Sans Condensed" panose="020B0503050000020004"/>
                <a:sym typeface="Fira Sans Condensed" panose="020B0503050000020004"/>
              </a:defRPr>
            </a:lvl9pPr>
          </a:lstStyle>
          <a:p>
            <a:endParaRPr/>
          </a:p>
        </p:txBody>
      </p:sp>
      <p:sp>
        <p:nvSpPr>
          <p:cNvPr id="25" name="Google Shape;25;p5"/>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pic>
        <p:nvPicPr>
          <p:cNvPr id="27" name="Google Shape;27;p6"/>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28" name="Google Shape;28;p6"/>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dk1"/>
        </a:solidFill>
        <a:effectLst/>
      </p:bgPr>
    </p:bg>
    <p:spTree>
      <p:nvGrpSpPr>
        <p:cNvPr id="1" name="Shape 29"/>
        <p:cNvGrpSpPr/>
        <p:nvPr/>
      </p:nvGrpSpPr>
      <p:grpSpPr>
        <a:xfrm>
          <a:off x="0" y="0"/>
          <a:ext cx="0" cy="0"/>
          <a:chOff x="0" y="0"/>
          <a:chExt cx="0" cy="0"/>
        </a:xfrm>
      </p:grpSpPr>
      <p:pic>
        <p:nvPicPr>
          <p:cNvPr id="30" name="Google Shape;30;p7"/>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31" name="Google Shape;31;p7"/>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Font typeface="Fira Sans Condensed" panose="020B0503050000020004"/>
              <a:buNone/>
              <a:defRPr sz="1400">
                <a:latin typeface="Fira Sans Condensed" panose="020B0503050000020004"/>
                <a:ea typeface="Fira Sans Condensed" panose="020B0503050000020004"/>
                <a:cs typeface="Fira Sans Condensed" panose="020B0503050000020004"/>
                <a:sym typeface="Fira Sans Condensed" panose="020B0503050000020004"/>
              </a:defRPr>
            </a:lvl1pPr>
            <a:lvl2pPr lvl="1"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2pPr>
            <a:lvl3pPr lvl="2"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3pPr>
            <a:lvl4pPr lvl="3"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4pPr>
            <a:lvl5pPr lvl="4"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5pPr>
            <a:lvl6pPr lvl="5"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6pPr>
            <a:lvl7pPr lvl="6"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7pPr>
            <a:lvl8pPr lvl="7"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8pPr>
            <a:lvl9pPr lvl="8" algn="ctr" rtl="0">
              <a:lnSpc>
                <a:spcPct val="100000"/>
              </a:lnSpc>
              <a:spcBef>
                <a:spcPts val="0"/>
              </a:spcBef>
              <a:spcAft>
                <a:spcPts val="0"/>
              </a:spcAft>
              <a:buSzPts val="2800"/>
              <a:buFont typeface="Fira Sans Condensed" panose="020B0503050000020004"/>
              <a:buNone/>
              <a:defRPr sz="2800">
                <a:latin typeface="Fira Sans Condensed" panose="020B0503050000020004"/>
                <a:ea typeface="Fira Sans Condensed" panose="020B0503050000020004"/>
                <a:cs typeface="Fira Sans Condensed" panose="020B0503050000020004"/>
                <a:sym typeface="Fira Sans Condensed" panose="020B0503050000020004"/>
              </a:defRPr>
            </a:lvl9pPr>
          </a:lstStyle>
          <a:p>
            <a:endParaRPr/>
          </a:p>
        </p:txBody>
      </p:sp>
      <p:sp>
        <p:nvSpPr>
          <p:cNvPr id="32" name="Google Shape;32;p7"/>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33"/>
        <p:cNvGrpSpPr/>
        <p:nvPr/>
      </p:nvGrpSpPr>
      <p:grpSpPr>
        <a:xfrm>
          <a:off x="0" y="0"/>
          <a:ext cx="0" cy="0"/>
          <a:chOff x="0" y="0"/>
          <a:chExt cx="0" cy="0"/>
        </a:xfrm>
      </p:grpSpPr>
      <p:pic>
        <p:nvPicPr>
          <p:cNvPr id="34" name="Google Shape;34;p8"/>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35" name="Google Shape;35;p8"/>
          <p:cNvSpPr txBox="1">
            <a:spLocks noGrp="1"/>
          </p:cNvSpPr>
          <p:nvPr>
            <p:ph type="title"/>
          </p:nvPr>
        </p:nvSpPr>
        <p:spPr>
          <a:xfrm>
            <a:off x="2422250" y="1418700"/>
            <a:ext cx="4299600" cy="230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1" name="Shape 36"/>
        <p:cNvGrpSpPr/>
        <p:nvPr/>
      </p:nvGrpSpPr>
      <p:grpSpPr>
        <a:xfrm>
          <a:off x="0" y="0"/>
          <a:ext cx="0" cy="0"/>
          <a:chOff x="0" y="0"/>
          <a:chExt cx="0" cy="0"/>
        </a:xfrm>
      </p:grpSpPr>
      <p:pic>
        <p:nvPicPr>
          <p:cNvPr id="37" name="Google Shape;37;p9"/>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38" name="Google Shape;38;p9"/>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pic>
        <p:nvPicPr>
          <p:cNvPr id="45" name="Google Shape;45;p11"/>
          <p:cNvPicPr preferRelativeResize="0"/>
          <p:nvPr/>
        </p:nvPicPr>
        <p:blipFill rotWithShape="1">
          <a:blip r:embed="rId2"/>
          <a:srcRect/>
          <a:stretch>
            <a:fillRect/>
          </a:stretch>
        </p:blipFill>
        <p:spPr>
          <a:xfrm>
            <a:off x="0" y="1339"/>
            <a:ext cx="9143998" cy="5140822"/>
          </a:xfrm>
          <a:prstGeom prst="rect">
            <a:avLst/>
          </a:prstGeom>
          <a:noFill/>
          <a:ln>
            <a:noFill/>
          </a:ln>
        </p:spPr>
      </p:pic>
      <p:sp>
        <p:nvSpPr>
          <p:cNvPr id="46" name="Google Shape;46;p11"/>
          <p:cNvSpPr txBox="1">
            <a:spLocks noGrp="1"/>
          </p:cNvSpPr>
          <p:nvPr>
            <p:ph type="title" hasCustomPrompt="1"/>
          </p:nvPr>
        </p:nvSpPr>
        <p:spPr>
          <a:xfrm>
            <a:off x="311700" y="2062500"/>
            <a:ext cx="8520600" cy="111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3255700"/>
            <a:ext cx="8520600" cy="5154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Font typeface="Fira Sans Condensed" panose="020B0503050000020004"/>
              <a:buChar char="●"/>
              <a:defRPr sz="1400">
                <a:latin typeface="Fira Sans Condensed" panose="020B0503050000020004"/>
                <a:ea typeface="Fira Sans Condensed" panose="020B0503050000020004"/>
                <a:cs typeface="Fira Sans Condensed" panose="020B0503050000020004"/>
                <a:sym typeface="Fira Sans Condensed" panose="020B0503050000020004"/>
              </a:defRPr>
            </a:lvl1pPr>
            <a:lvl2pPr marL="914400" lvl="1"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2pPr>
            <a:lvl3pPr marL="1371600" lvl="2"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3pPr>
            <a:lvl4pPr marL="1828800" lvl="3"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4pPr>
            <a:lvl5pPr marL="2286000" lvl="4"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5pPr>
            <a:lvl6pPr marL="2743200" lvl="5"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6pPr>
            <a:lvl7pPr marL="3200400" lvl="6"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7pPr>
            <a:lvl8pPr marL="3657600" lvl="7"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8pPr>
            <a:lvl9pPr marL="4114800" lvl="8" indent="-304800" algn="ctr">
              <a:spcBef>
                <a:spcPts val="0"/>
              </a:spcBef>
              <a:spcAft>
                <a:spcPts val="0"/>
              </a:spcAft>
              <a:buSzPts val="1200"/>
              <a:buFont typeface="Fira Sans Condensed" panose="020B0503050000020004"/>
              <a:buChar char="■"/>
              <a:defRPr>
                <a:latin typeface="Fira Sans Condensed" panose="020B0503050000020004"/>
                <a:ea typeface="Fira Sans Condensed" panose="020B0503050000020004"/>
                <a:cs typeface="Fira Sans Condensed" panose="020B0503050000020004"/>
                <a:sym typeface="Fira Sans Condensed" panose="020B0503050000020004"/>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1pPr>
            <a:lvl2pPr lvl="1">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2pPr>
            <a:lvl3pPr lvl="2">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3pPr>
            <a:lvl4pPr lvl="3">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4pPr>
            <a:lvl5pPr lvl="4">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5pPr>
            <a:lvl6pPr lvl="5">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6pPr>
            <a:lvl7pPr lvl="6">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7pPr>
            <a:lvl8pPr lvl="7">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8pPr>
            <a:lvl9pPr lvl="8">
              <a:spcBef>
                <a:spcPts val="0"/>
              </a:spcBef>
              <a:spcAft>
                <a:spcPts val="0"/>
              </a:spcAft>
              <a:buClr>
                <a:schemeClr val="lt2"/>
              </a:buClr>
              <a:buSzPts val="2800"/>
              <a:buFont typeface="Rajdhani" panose="02000000000000000000"/>
              <a:buNone/>
              <a:defRPr sz="2800" b="1">
                <a:solidFill>
                  <a:schemeClr val="lt2"/>
                </a:solidFill>
                <a:latin typeface="Rajdhani" panose="02000000000000000000"/>
                <a:ea typeface="Rajdhani" panose="02000000000000000000"/>
                <a:cs typeface="Rajdhani" panose="02000000000000000000"/>
                <a:sym typeface="Rajdhani" panose="02000000000000000000"/>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lt2"/>
              </a:buClr>
              <a:buSzPts val="1200"/>
              <a:buFont typeface="Fira Sans Condensed Light" panose="020B0403050000020004"/>
              <a:buChar char="●"/>
              <a:defRPr sz="1200">
                <a:solidFill>
                  <a:schemeClr val="lt2"/>
                </a:solidFill>
                <a:latin typeface="Fira Sans Condensed Light" panose="020B0403050000020004"/>
                <a:ea typeface="Fira Sans Condensed Light" panose="020B0403050000020004"/>
                <a:cs typeface="Fira Sans Condensed Light" panose="020B0403050000020004"/>
                <a:sym typeface="Fira Sans Condensed Light" panose="020B0403050000020004"/>
              </a:defRPr>
            </a:lvl1pPr>
            <a:lvl2pPr marL="914400" lvl="1" indent="-304800">
              <a:lnSpc>
                <a:spcPct val="100000"/>
              </a:lnSpc>
              <a:spcBef>
                <a:spcPts val="0"/>
              </a:spcBef>
              <a:spcAft>
                <a:spcPts val="0"/>
              </a:spcAft>
              <a:buClr>
                <a:schemeClr val="lt2"/>
              </a:buClr>
              <a:buSzPts val="1200"/>
              <a:buFont typeface="Fira Sans Condensed Light" panose="020B0403050000020004"/>
              <a:buChar char="○"/>
              <a:defRPr sz="1200">
                <a:solidFill>
                  <a:schemeClr val="lt2"/>
                </a:solidFill>
                <a:latin typeface="Fira Sans Condensed Light" panose="020B0403050000020004"/>
                <a:ea typeface="Fira Sans Condensed Light" panose="020B0403050000020004"/>
                <a:cs typeface="Fira Sans Condensed Light" panose="020B0403050000020004"/>
                <a:sym typeface="Fira Sans Condensed Light" panose="020B0403050000020004"/>
              </a:defRPr>
            </a:lvl2pPr>
            <a:lvl3pPr marL="1371600" lvl="2" indent="-304800">
              <a:lnSpc>
                <a:spcPct val="100000"/>
              </a:lnSpc>
              <a:spcBef>
                <a:spcPts val="0"/>
              </a:spcBef>
              <a:spcAft>
                <a:spcPts val="0"/>
              </a:spcAft>
              <a:buClr>
                <a:schemeClr val="lt2"/>
              </a:buClr>
              <a:buSzPts val="1200"/>
              <a:buFont typeface="Fira Sans Condensed Light" panose="020B0403050000020004"/>
              <a:buChar char="■"/>
              <a:defRPr sz="1200">
                <a:solidFill>
                  <a:schemeClr val="lt2"/>
                </a:solidFill>
                <a:latin typeface="Fira Sans Condensed Light" panose="020B0403050000020004"/>
                <a:ea typeface="Fira Sans Condensed Light" panose="020B0403050000020004"/>
                <a:cs typeface="Fira Sans Condensed Light" panose="020B0403050000020004"/>
                <a:sym typeface="Fira Sans Condensed Light" panose="020B0403050000020004"/>
              </a:defRPr>
            </a:lvl3pPr>
            <a:lvl4pPr marL="1828800" lvl="3" indent="-304800">
              <a:lnSpc>
                <a:spcPct val="100000"/>
              </a:lnSpc>
              <a:spcBef>
                <a:spcPts val="0"/>
              </a:spcBef>
              <a:spcAft>
                <a:spcPts val="0"/>
              </a:spcAft>
              <a:buClr>
                <a:schemeClr val="lt2"/>
              </a:buClr>
              <a:buSzPts val="1200"/>
              <a:buFont typeface="Fira Sans Condensed Light" panose="020B0403050000020004"/>
              <a:buChar char="●"/>
              <a:defRPr sz="1200">
                <a:solidFill>
                  <a:schemeClr val="lt2"/>
                </a:solidFill>
                <a:latin typeface="Fira Sans Condensed Light" panose="020B0403050000020004"/>
                <a:ea typeface="Fira Sans Condensed Light" panose="020B0403050000020004"/>
                <a:cs typeface="Fira Sans Condensed Light" panose="020B0403050000020004"/>
                <a:sym typeface="Fira Sans Condensed Light" panose="020B0403050000020004"/>
              </a:defRPr>
            </a:lvl4pPr>
            <a:lvl5pPr marL="2286000" lvl="4" indent="-304800">
              <a:lnSpc>
                <a:spcPct val="100000"/>
              </a:lnSpc>
              <a:spcBef>
                <a:spcPts val="0"/>
              </a:spcBef>
              <a:spcAft>
                <a:spcPts val="0"/>
              </a:spcAft>
              <a:buClr>
                <a:schemeClr val="lt2"/>
              </a:buClr>
              <a:buSzPts val="1200"/>
              <a:buFont typeface="Fira Sans Condensed Light" panose="020B0403050000020004"/>
              <a:buChar char="○"/>
              <a:defRPr sz="1200">
                <a:solidFill>
                  <a:schemeClr val="lt2"/>
                </a:solidFill>
                <a:latin typeface="Fira Sans Condensed Light" panose="020B0403050000020004"/>
                <a:ea typeface="Fira Sans Condensed Light" panose="020B0403050000020004"/>
                <a:cs typeface="Fira Sans Condensed Light" panose="020B0403050000020004"/>
                <a:sym typeface="Fira Sans Condensed Light" panose="020B0403050000020004"/>
              </a:defRPr>
            </a:lvl5pPr>
            <a:lvl6pPr marL="2743200" lvl="5" indent="-304800">
              <a:lnSpc>
                <a:spcPct val="100000"/>
              </a:lnSpc>
              <a:spcBef>
                <a:spcPts val="0"/>
              </a:spcBef>
              <a:spcAft>
                <a:spcPts val="0"/>
              </a:spcAft>
              <a:buClr>
                <a:schemeClr val="lt2"/>
              </a:buClr>
              <a:buSzPts val="1200"/>
              <a:buFont typeface="Fira Sans Condensed Light" panose="020B0403050000020004"/>
              <a:buChar char="■"/>
              <a:defRPr sz="1200">
                <a:solidFill>
                  <a:schemeClr val="lt2"/>
                </a:solidFill>
                <a:latin typeface="Fira Sans Condensed Light" panose="020B0403050000020004"/>
                <a:ea typeface="Fira Sans Condensed Light" panose="020B0403050000020004"/>
                <a:cs typeface="Fira Sans Condensed Light" panose="020B0403050000020004"/>
                <a:sym typeface="Fira Sans Condensed Light" panose="020B0403050000020004"/>
              </a:defRPr>
            </a:lvl6pPr>
            <a:lvl7pPr marL="3200400" lvl="6" indent="-304800">
              <a:lnSpc>
                <a:spcPct val="100000"/>
              </a:lnSpc>
              <a:spcBef>
                <a:spcPts val="0"/>
              </a:spcBef>
              <a:spcAft>
                <a:spcPts val="0"/>
              </a:spcAft>
              <a:buClr>
                <a:schemeClr val="lt2"/>
              </a:buClr>
              <a:buSzPts val="1200"/>
              <a:buFont typeface="Fira Sans Condensed Light" panose="020B0403050000020004"/>
              <a:buChar char="●"/>
              <a:defRPr sz="1200">
                <a:solidFill>
                  <a:schemeClr val="lt2"/>
                </a:solidFill>
                <a:latin typeface="Fira Sans Condensed Light" panose="020B0403050000020004"/>
                <a:ea typeface="Fira Sans Condensed Light" panose="020B0403050000020004"/>
                <a:cs typeface="Fira Sans Condensed Light" panose="020B0403050000020004"/>
                <a:sym typeface="Fira Sans Condensed Light" panose="020B0403050000020004"/>
              </a:defRPr>
            </a:lvl7pPr>
            <a:lvl8pPr marL="3657600" lvl="7" indent="-304800">
              <a:lnSpc>
                <a:spcPct val="100000"/>
              </a:lnSpc>
              <a:spcBef>
                <a:spcPts val="0"/>
              </a:spcBef>
              <a:spcAft>
                <a:spcPts val="0"/>
              </a:spcAft>
              <a:buClr>
                <a:schemeClr val="lt2"/>
              </a:buClr>
              <a:buSzPts val="1200"/>
              <a:buFont typeface="Fira Sans Condensed Light" panose="020B0403050000020004"/>
              <a:buChar char="○"/>
              <a:defRPr sz="1200">
                <a:solidFill>
                  <a:schemeClr val="lt2"/>
                </a:solidFill>
                <a:latin typeface="Fira Sans Condensed Light" panose="020B0403050000020004"/>
                <a:ea typeface="Fira Sans Condensed Light" panose="020B0403050000020004"/>
                <a:cs typeface="Fira Sans Condensed Light" panose="020B0403050000020004"/>
                <a:sym typeface="Fira Sans Condensed Light" panose="020B0403050000020004"/>
              </a:defRPr>
            </a:lvl8pPr>
            <a:lvl9pPr marL="4114800" lvl="8" indent="-304800">
              <a:lnSpc>
                <a:spcPct val="100000"/>
              </a:lnSpc>
              <a:spcBef>
                <a:spcPts val="0"/>
              </a:spcBef>
              <a:spcAft>
                <a:spcPts val="0"/>
              </a:spcAft>
              <a:buClr>
                <a:schemeClr val="lt2"/>
              </a:buClr>
              <a:buSzPts val="1200"/>
              <a:buFont typeface="Fira Sans Condensed Light" panose="020B0403050000020004"/>
              <a:buChar char="■"/>
              <a:defRPr sz="1200">
                <a:solidFill>
                  <a:schemeClr val="lt2"/>
                </a:solidFill>
                <a:latin typeface="Fira Sans Condensed Light" panose="020B0403050000020004"/>
                <a:ea typeface="Fira Sans Condensed Light" panose="020B0403050000020004"/>
                <a:cs typeface="Fira Sans Condensed Light" panose="020B0403050000020004"/>
                <a:sym typeface="Fira Sans Condensed Light" panose="020B0403050000020004"/>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56"/>
        <p:cNvGrpSpPr/>
        <p:nvPr/>
      </p:nvGrpSpPr>
      <p:grpSpPr>
        <a:xfrm>
          <a:off x="0" y="0"/>
          <a:ext cx="0" cy="0"/>
          <a:chOff x="0" y="0"/>
          <a:chExt cx="0" cy="0"/>
        </a:xfrm>
      </p:grpSpPr>
      <p:sp>
        <p:nvSpPr>
          <p:cNvPr id="57" name="Google Shape;57;p15"/>
          <p:cNvSpPr txBox="1">
            <a:spLocks noGrp="1"/>
          </p:cNvSpPr>
          <p:nvPr>
            <p:ph type="ctrTitle"/>
          </p:nvPr>
        </p:nvSpPr>
        <p:spPr>
          <a:xfrm>
            <a:off x="2628900" y="74930"/>
            <a:ext cx="6515100" cy="277050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5400" dirty="0">
                <a:latin typeface="Times New Roman" panose="02020603050405020304" charset="0"/>
                <a:cs typeface="Times New Roman" panose="02020603050405020304" charset="0"/>
              </a:rPr>
              <a:t>Facial </a:t>
            </a:r>
            <a:br>
              <a:rPr lang="en-US" altLang="en-US" sz="5400" dirty="0">
                <a:latin typeface="Times New Roman" panose="02020603050405020304" charset="0"/>
                <a:cs typeface="Times New Roman" panose="02020603050405020304" charset="0"/>
              </a:rPr>
            </a:br>
            <a:r>
              <a:rPr lang="en-US" altLang="en-US" sz="5400" dirty="0">
                <a:latin typeface="Times New Roman" panose="02020603050405020304" charset="0"/>
                <a:cs typeface="Times New Roman" panose="02020603050405020304" charset="0"/>
              </a:rPr>
              <a:t>         Micro</a:t>
            </a:r>
            <a:br>
              <a:rPr lang="en-US" altLang="en-US" sz="5400" dirty="0">
                <a:latin typeface="Times New Roman" panose="02020603050405020304" charset="0"/>
                <a:cs typeface="Times New Roman" panose="02020603050405020304" charset="0"/>
              </a:rPr>
            </a:br>
            <a:r>
              <a:rPr lang="en-US" altLang="en-US" sz="5400" dirty="0">
                <a:latin typeface="Times New Roman" panose="02020603050405020304" charset="0"/>
                <a:cs typeface="Times New Roman" panose="02020603050405020304" charset="0"/>
              </a:rPr>
              <a:t>             Expressions</a:t>
            </a:r>
          </a:p>
        </p:txBody>
      </p:sp>
      <p:sp>
        <p:nvSpPr>
          <p:cNvPr id="58" name="Google Shape;58;p15"/>
          <p:cNvSpPr txBox="1">
            <a:spLocks noGrp="1"/>
          </p:cNvSpPr>
          <p:nvPr>
            <p:ph type="subTitle" idx="1"/>
          </p:nvPr>
        </p:nvSpPr>
        <p:spPr>
          <a:xfrm>
            <a:off x="4138930" y="3110230"/>
            <a:ext cx="4291330" cy="16827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sz="3200" i="1" dirty="0">
                <a:latin typeface="Times New Roman" panose="02020603050405020304" charset="0"/>
                <a:cs typeface="Times New Roman" panose="02020603050405020304" charset="0"/>
              </a:rPr>
              <a:t>Students: </a:t>
            </a:r>
            <a:br>
              <a:rPr lang="en-US" altLang="en-GB" sz="3200" i="1" dirty="0">
                <a:latin typeface="Times New Roman" panose="02020603050405020304" charset="0"/>
                <a:cs typeface="Times New Roman" panose="02020603050405020304" charset="0"/>
              </a:rPr>
            </a:br>
            <a:r>
              <a:rPr lang="en-US" altLang="en-US" sz="3200" i="1" dirty="0" err="1">
                <a:latin typeface="Times New Roman" panose="02020603050405020304" charset="0"/>
                <a:cs typeface="Times New Roman" panose="02020603050405020304" charset="0"/>
              </a:rPr>
              <a:t>Jeneen</a:t>
            </a:r>
            <a:r>
              <a:rPr lang="en-US" altLang="en-US" sz="3200" i="1" dirty="0">
                <a:latin typeface="Times New Roman" panose="02020603050405020304" charset="0"/>
                <a:cs typeface="Times New Roman" panose="02020603050405020304" charset="0"/>
              </a:rPr>
              <a:t> Jaber</a:t>
            </a:r>
          </a:p>
          <a:p>
            <a:pPr marL="0" lvl="0" indent="0" algn="l" rtl="0">
              <a:spcBef>
                <a:spcPts val="0"/>
              </a:spcBef>
              <a:spcAft>
                <a:spcPts val="0"/>
              </a:spcAft>
              <a:buNone/>
            </a:pPr>
            <a:r>
              <a:rPr lang="en-US" altLang="en-US" sz="3200" i="1" dirty="0">
                <a:latin typeface="Times New Roman" panose="02020603050405020304" charset="0"/>
                <a:cs typeface="Times New Roman" panose="02020603050405020304" charset="0"/>
              </a:rPr>
              <a:t>Ayah </a:t>
            </a:r>
            <a:r>
              <a:rPr lang="en-US" altLang="en-US" sz="3200" i="1" dirty="0" err="1">
                <a:latin typeface="Times New Roman" panose="02020603050405020304" charset="0"/>
                <a:cs typeface="Times New Roman" panose="02020603050405020304" charset="0"/>
              </a:rPr>
              <a:t>Abdalmuti</a:t>
            </a:r>
            <a:br>
              <a:rPr lang="en-US" altLang="en-GB" sz="3200" i="1" dirty="0">
                <a:latin typeface="Times New Roman" panose="02020603050405020304" charset="0"/>
                <a:cs typeface="Times New Roman" panose="02020603050405020304" charset="0"/>
              </a:rPr>
            </a:br>
            <a:endParaRPr lang="en-US" altLang="en-GB" sz="3200" i="1" dirty="0">
              <a:latin typeface="Times New Roman" panose="02020603050405020304" charset="0"/>
              <a:cs typeface="Times New Roman" panose="02020603050405020304" charset="0"/>
            </a:endParaRPr>
          </a:p>
        </p:txBody>
      </p:sp>
      <p:pic>
        <p:nvPicPr>
          <p:cNvPr id="59" name="Google Shape;59;p15"/>
          <p:cNvPicPr preferRelativeResize="0"/>
          <p:nvPr/>
        </p:nvPicPr>
        <p:blipFill rotWithShape="1">
          <a:blip r:embed="rId4"/>
          <a:srcRect l="25302" r="25297"/>
          <a:stretch>
            <a:fillRect/>
          </a:stretch>
        </p:blipFill>
        <p:spPr>
          <a:xfrm>
            <a:off x="767950" y="978400"/>
            <a:ext cx="3049450" cy="34723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612139" y="101774"/>
            <a:ext cx="7811770" cy="65151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dirty="0">
                <a:latin typeface="Times New Roman" panose="02020603050405020304" charset="0"/>
                <a:cs typeface="Times New Roman" panose="02020603050405020304" charset="0"/>
              </a:rPr>
              <a:t>ABOUT </a:t>
            </a:r>
            <a:r>
              <a:rPr lang="en-US" altLang="en-US" sz="3600" dirty="0">
                <a:latin typeface="Times New Roman" panose="02020603050405020304" charset="0"/>
                <a:cs typeface="Times New Roman" panose="02020603050405020304" charset="0"/>
              </a:rPr>
              <a:t>Facial Micro-Expressions</a:t>
            </a:r>
          </a:p>
        </p:txBody>
      </p:sp>
      <p:sp>
        <p:nvSpPr>
          <p:cNvPr id="65" name="Google Shape;65;p16"/>
          <p:cNvSpPr txBox="1">
            <a:spLocks noGrp="1"/>
          </p:cNvSpPr>
          <p:nvPr>
            <p:ph type="body" idx="1"/>
          </p:nvPr>
        </p:nvSpPr>
        <p:spPr>
          <a:xfrm>
            <a:off x="91122" y="839470"/>
            <a:ext cx="8853805" cy="4202256"/>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chemeClr val="lt2"/>
              </a:buClr>
              <a:buSzPts val="1400"/>
              <a:buFont typeface="Fira Sans Condensed" panose="020B0503050000020004"/>
              <a:buChar char="●"/>
            </a:pPr>
            <a:r>
              <a:rPr lang="en-US" altLang="en-US" sz="2400" b="1" dirty="0">
                <a:solidFill>
                  <a:schemeClr val="lt2"/>
                </a:solidFill>
                <a:latin typeface="Times New Roman" panose="02020603050405020304" charset="0"/>
                <a:cs typeface="Times New Roman" panose="02020603050405020304" charset="0"/>
              </a:rPr>
              <a:t>What are Facial Micro-Expressions?</a:t>
            </a:r>
            <a:br>
              <a:rPr lang="en-US" altLang="en-US" sz="2400" b="1" dirty="0">
                <a:solidFill>
                  <a:schemeClr val="lt2"/>
                </a:solidFill>
                <a:latin typeface="Times New Roman" panose="02020603050405020304" charset="0"/>
                <a:cs typeface="Times New Roman" panose="02020603050405020304" charset="0"/>
              </a:rPr>
            </a:br>
            <a:r>
              <a:rPr lang="en-US" altLang="en-US" sz="1800" dirty="0">
                <a:solidFill>
                  <a:schemeClr val="lt2"/>
                </a:solidFill>
              </a:rPr>
              <a:t>Micro-expressions (MEs) are facial expressions that occur within a</a:t>
            </a:r>
            <a:r>
              <a:rPr lang="ar-SA" altLang="en-US" sz="1800" dirty="0">
                <a:solidFill>
                  <a:schemeClr val="lt2"/>
                </a:solidFill>
              </a:rPr>
              <a:t> </a:t>
            </a:r>
            <a:r>
              <a:rPr lang="en-US" altLang="en-US" sz="1800" dirty="0">
                <a:solidFill>
                  <a:schemeClr val="lt2"/>
                </a:solidFill>
              </a:rPr>
              <a:t>fraction of a second. This uncontrolled emotional leakage exposes a</a:t>
            </a:r>
            <a:r>
              <a:rPr lang="ar-SA" altLang="en-US" sz="1800" dirty="0">
                <a:solidFill>
                  <a:schemeClr val="lt2"/>
                </a:solidFill>
              </a:rPr>
              <a:t> </a:t>
            </a:r>
            <a:r>
              <a:rPr lang="en-US" altLang="en-US" sz="1800" dirty="0">
                <a:solidFill>
                  <a:schemeClr val="lt2"/>
                </a:solidFill>
              </a:rPr>
              <a:t>person’s true emotions.</a:t>
            </a:r>
          </a:p>
          <a:p>
            <a:pPr marL="457200" lvl="0" indent="-317500" algn="l" rtl="0">
              <a:spcBef>
                <a:spcPts val="1000"/>
              </a:spcBef>
              <a:spcAft>
                <a:spcPts val="0"/>
              </a:spcAft>
              <a:buClr>
                <a:schemeClr val="lt2"/>
              </a:buClr>
              <a:buSzPts val="1400"/>
              <a:buFont typeface="Fira Sans Condensed" panose="020B0503050000020004"/>
              <a:buChar char="●"/>
            </a:pPr>
            <a:r>
              <a:rPr lang="en-GB" dirty="0">
                <a:solidFill>
                  <a:schemeClr val="lt2"/>
                </a:solidFill>
              </a:rPr>
              <a:t> </a:t>
            </a:r>
            <a:r>
              <a:rPr lang="en-US" altLang="en-US" sz="2400" b="1" dirty="0">
                <a:solidFill>
                  <a:schemeClr val="lt2"/>
                </a:solidFill>
                <a:latin typeface="Times New Roman" panose="02020603050405020304" charset="0"/>
                <a:cs typeface="Times New Roman" panose="02020603050405020304" charset="0"/>
              </a:rPr>
              <a:t>Why Study Micro-Expressions?</a:t>
            </a:r>
            <a:br>
              <a:rPr lang="en-GB" sz="2400" b="1" dirty="0">
                <a:solidFill>
                  <a:schemeClr val="lt2"/>
                </a:solidFill>
                <a:latin typeface="Farsi Simple Bold" panose="02010400000000000000" charset="0"/>
                <a:cs typeface="Farsi Simple Bold" panose="02010400000000000000" charset="0"/>
              </a:rPr>
            </a:br>
            <a:endParaRPr lang="en-GB" dirty="0"/>
          </a:p>
          <a:p>
            <a:pPr marL="914400" lvl="1" indent="-317500" algn="l" rtl="0">
              <a:spcBef>
                <a:spcPts val="0"/>
              </a:spcBef>
              <a:spcAft>
                <a:spcPts val="0"/>
              </a:spcAft>
              <a:buClr>
                <a:schemeClr val="lt2"/>
              </a:buClr>
              <a:buSzPts val="1400"/>
              <a:buFont typeface="Fira Sans Condensed" panose="020B0503050000020004"/>
              <a:buChar char="○"/>
            </a:pPr>
            <a:r>
              <a:rPr lang="en-US" altLang="en-US" sz="1600" b="1" dirty="0"/>
              <a:t>Enhanced Security:</a:t>
            </a:r>
            <a:r>
              <a:rPr lang="en-US" altLang="en-US" sz="1600" dirty="0"/>
              <a:t>  Detect deception in criminal investigations, airport security and strengthen biometric authentication systems by leveraging micro-expressions' inability to be easily faked.</a:t>
            </a:r>
          </a:p>
          <a:p>
            <a:pPr marL="596900" lvl="1" indent="0" algn="l" rtl="0">
              <a:spcBef>
                <a:spcPts val="0"/>
              </a:spcBef>
              <a:spcAft>
                <a:spcPts val="0"/>
              </a:spcAft>
              <a:buClr>
                <a:schemeClr val="lt2"/>
              </a:buClr>
              <a:buSzPts val="1400"/>
              <a:buFont typeface="Fira Sans Condensed" panose="020B0503050000020004"/>
              <a:buNone/>
            </a:pPr>
            <a:endParaRPr lang="en-US" altLang="en-US" sz="1600" dirty="0"/>
          </a:p>
          <a:p>
            <a:pPr marL="914400" lvl="1" indent="-317500" algn="l" rtl="0">
              <a:spcBef>
                <a:spcPts val="0"/>
              </a:spcBef>
              <a:spcAft>
                <a:spcPts val="0"/>
              </a:spcAft>
              <a:buClr>
                <a:schemeClr val="lt2"/>
              </a:buClr>
              <a:buSzPts val="1400"/>
              <a:buFont typeface="Fira Sans Condensed" panose="020B0503050000020004"/>
              <a:buChar char="○"/>
            </a:pPr>
            <a:r>
              <a:rPr lang="en-US" altLang="en-US" sz="1600" b="1" dirty="0">
                <a:solidFill>
                  <a:schemeClr val="lt2"/>
                </a:solidFill>
              </a:rPr>
              <a:t>Improved Emotional Understanding:</a:t>
            </a:r>
            <a:r>
              <a:rPr lang="en-US" altLang="en-US" sz="1600" dirty="0">
                <a:solidFill>
                  <a:schemeClr val="lt2"/>
                </a:solidFill>
              </a:rPr>
              <a:t> </a:t>
            </a:r>
            <a:r>
              <a:rPr lang="ar-SA" altLang="en-US" sz="1600" dirty="0">
                <a:solidFill>
                  <a:schemeClr val="lt2"/>
                </a:solidFill>
              </a:rPr>
              <a:t> </a:t>
            </a:r>
            <a:r>
              <a:rPr lang="en-US" altLang="en-US" sz="1600" dirty="0">
                <a:solidFill>
                  <a:schemeClr val="lt2"/>
                </a:solidFill>
              </a:rPr>
              <a:t>Aid in identifying psychological conditions and monitoring mental health, such as detecting suppressed emotions.</a:t>
            </a:r>
          </a:p>
          <a:p>
            <a:pPr marL="596900" lvl="1" indent="0" algn="l" rtl="0">
              <a:spcBef>
                <a:spcPts val="0"/>
              </a:spcBef>
              <a:spcAft>
                <a:spcPts val="0"/>
              </a:spcAft>
              <a:buClr>
                <a:schemeClr val="lt2"/>
              </a:buClr>
              <a:buSzPts val="1400"/>
              <a:buFont typeface="Fira Sans Condensed" panose="020B0503050000020004"/>
              <a:buNone/>
            </a:pPr>
            <a:endParaRPr lang="en-US" altLang="en-US" sz="1600" dirty="0">
              <a:solidFill>
                <a:schemeClr val="lt2"/>
              </a:solidFill>
            </a:endParaRPr>
          </a:p>
          <a:p>
            <a:pPr marL="914400" lvl="1" indent="-317500" algn="l" rtl="0">
              <a:spcBef>
                <a:spcPts val="0"/>
              </a:spcBef>
              <a:spcAft>
                <a:spcPts val="0"/>
              </a:spcAft>
              <a:buClr>
                <a:schemeClr val="lt2"/>
              </a:buClr>
              <a:buSzPts val="1400"/>
              <a:buFont typeface="Fira Sans Condensed" panose="020B0503050000020004"/>
              <a:buChar char="○"/>
            </a:pPr>
            <a:r>
              <a:rPr lang="en-US" altLang="en-US" sz="1600" b="1" dirty="0">
                <a:solidFill>
                  <a:schemeClr val="lt2"/>
                </a:solidFill>
              </a:rPr>
              <a:t>Enhanced Safety &amp; Well-Being:</a:t>
            </a:r>
            <a:r>
              <a:rPr lang="en-US" altLang="en-US" sz="1600" dirty="0">
                <a:solidFill>
                  <a:schemeClr val="lt2"/>
                </a:solidFill>
              </a:rPr>
              <a:t>  Driver monitoring systems to detect fatigue or stress for safer driving environments and surveillance in sensitive areas to identify suspicious behavior.</a:t>
            </a:r>
            <a:br>
              <a:rPr lang="en-GB" sz="1600" dirty="0">
                <a:solidFill>
                  <a:schemeClr val="lt2"/>
                </a:solidFill>
              </a:rPr>
            </a:br>
            <a:endParaRPr lang="en-US" sz="1600" dirty="0">
              <a:solidFill>
                <a:schemeClr val="lt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Facial Feature Movements Caused by Various Emotions: Differences According  to Sex">
            <a:extLst>
              <a:ext uri="{FF2B5EF4-FFF2-40B4-BE49-F238E27FC236}">
                <a16:creationId xmlns:a16="http://schemas.microsoft.com/office/drawing/2014/main" id="{E358F916-7DD7-3A61-542B-366022EAFF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045" y="131755"/>
            <a:ext cx="7667909" cy="48799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007745" y="1432560"/>
            <a:ext cx="6977380" cy="3344545"/>
          </a:xfrm>
        </p:spPr>
        <p:txBody>
          <a:bodyPr/>
          <a:lstStyle/>
          <a:p>
            <a:pPr marL="139700" indent="0">
              <a:buNone/>
            </a:pPr>
            <a:r>
              <a:rPr lang="en-US" altLang="en-US" sz="2400" b="1" i="1" dirty="0">
                <a:latin typeface="Times New Roman" panose="02020603050405020304" charset="0"/>
                <a:cs typeface="Times New Roman" panose="02020603050405020304" charset="0"/>
              </a:rPr>
              <a:t>Paul Ekman contribution and research:</a:t>
            </a:r>
            <a:br>
              <a:rPr lang="ar-SA" altLang="en-US" sz="2400" dirty="0">
                <a:latin typeface="Times New Roman" panose="02020603050405020304" charset="0"/>
                <a:cs typeface="Times New Roman" panose="02020603050405020304" charset="0"/>
              </a:rPr>
            </a:br>
            <a:r>
              <a:rPr lang="ar-SA" altLang="en-US" sz="2400" dirty="0">
                <a:latin typeface="Times New Roman" panose="02020603050405020304" charset="0"/>
                <a:cs typeface="Times New Roman" panose="02020603050405020304" charset="0"/>
              </a:rPr>
              <a:t> </a:t>
            </a:r>
            <a:r>
              <a:rPr lang="en-US" altLang="en-US" sz="2400" dirty="0">
                <a:latin typeface="Times New Roman" panose="02020603050405020304" charset="0"/>
                <a:cs typeface="Times New Roman" panose="02020603050405020304" charset="0"/>
              </a:rPr>
              <a:t>Micro-expressions (MEs) were discovered by Paul Ekman in 1967 during his research on facial expressions and body movements. While studying patients who denied being depressed but later committed suicide, Ekman and Wallace Friesen analyzed slow-motion films and identified micro facial expressions that revealed hidden negative emotions.</a:t>
            </a:r>
            <a:r>
              <a:rPr lang="ar-SA" altLang="en-US" sz="2400" dirty="0">
                <a:latin typeface="Times New Roman" panose="02020603050405020304" charset="0"/>
                <a:cs typeface="Times New Roman" panose="02020603050405020304" charset="0"/>
              </a:rPr>
              <a:t>   </a:t>
            </a:r>
            <a:r>
              <a:rPr lang="ar-SA" altLang="en-US" sz="2000" b="1" dirty="0">
                <a:latin typeface="Times New Roman" panose="02020603050405020304" charset="0"/>
                <a:cs typeface="Times New Roman" panose="02020603050405020304" charset="0"/>
              </a:rPr>
              <a:t> </a:t>
            </a:r>
            <a:endParaRPr lang="en-US" altLang="en-US" sz="2000" dirty="0">
              <a:latin typeface="Times New Roman" panose="02020603050405020304" charset="0"/>
              <a:cs typeface="Times New Roman" panose="02020603050405020304" charset="0"/>
            </a:endParaRPr>
          </a:p>
        </p:txBody>
      </p:sp>
      <p:sp>
        <p:nvSpPr>
          <p:cNvPr id="5" name="Title 4"/>
          <p:cNvSpPr>
            <a:spLocks noGrp="1"/>
          </p:cNvSpPr>
          <p:nvPr>
            <p:ph type="title"/>
          </p:nvPr>
        </p:nvSpPr>
        <p:spPr>
          <a:xfrm>
            <a:off x="262890" y="539750"/>
            <a:ext cx="8763000" cy="892810"/>
          </a:xfrm>
        </p:spPr>
        <p:txBody>
          <a:bodyPr/>
          <a:lstStyle/>
          <a:p>
            <a:r>
              <a:rPr lang="en-US" altLang="en-US" sz="4000" dirty="0">
                <a:latin typeface="Times New Roman" panose="02020603050405020304" charset="0"/>
                <a:cs typeface="Times New Roman" panose="02020603050405020304" charset="0"/>
              </a:rPr>
              <a:t> </a:t>
            </a:r>
            <a:r>
              <a:rPr lang="en-US" altLang="en-US" sz="3600" dirty="0">
                <a:latin typeface="Times New Roman" panose="02020603050405020304" charset="0"/>
                <a:cs typeface="Times New Roman" panose="02020603050405020304" charset="0"/>
              </a:rPr>
              <a:t>History &amp; Scientific Experiments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0" y="349250"/>
            <a:ext cx="9144000" cy="82486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latin typeface="Times New Roman" panose="02020603050405020304" charset="0"/>
                <a:cs typeface="Times New Roman" panose="02020603050405020304" charset="0"/>
              </a:rPr>
              <a:t>Why Facial Micro-Expressions Importance in Security?</a:t>
            </a:r>
          </a:p>
        </p:txBody>
      </p:sp>
      <p:grpSp>
        <p:nvGrpSpPr>
          <p:cNvPr id="71" name="Google Shape;71;p17"/>
          <p:cNvGrpSpPr/>
          <p:nvPr/>
        </p:nvGrpSpPr>
        <p:grpSpPr>
          <a:xfrm>
            <a:off x="5699116" y="1560246"/>
            <a:ext cx="2992755" cy="1572895"/>
            <a:chOff x="5699116" y="1556424"/>
            <a:chExt cx="2992755" cy="1572895"/>
          </a:xfrm>
        </p:grpSpPr>
        <p:sp>
          <p:nvSpPr>
            <p:cNvPr id="72" name="Google Shape;72;p17"/>
            <p:cNvSpPr txBox="1"/>
            <p:nvPr/>
          </p:nvSpPr>
          <p:spPr>
            <a:xfrm>
              <a:off x="5699116" y="1672629"/>
              <a:ext cx="2155190" cy="80391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73" name="Google Shape;73;p17"/>
            <p:cNvSpPr txBox="1"/>
            <p:nvPr/>
          </p:nvSpPr>
          <p:spPr>
            <a:xfrm>
              <a:off x="5699116" y="1556424"/>
              <a:ext cx="2992755" cy="157289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en-US" sz="1800" b="1">
                  <a:solidFill>
                    <a:schemeClr val="lt2"/>
                  </a:solidFill>
                  <a:latin typeface="Times New Roman" panose="02020603050405020304" charset="0"/>
                  <a:ea typeface="Fira Sans Condensed" panose="020B0503050000020004"/>
                  <a:cs typeface="Times New Roman" panose="02020603050405020304" charset="0"/>
                  <a:sym typeface="Fira Sans Condensed" panose="020B0503050000020004"/>
                </a:rPr>
                <a:t>Understanding Behavior</a:t>
              </a:r>
              <a:r>
                <a:rPr lang="ar-SA" altLang="en-US" sz="1800" b="1">
                  <a:solidFill>
                    <a:schemeClr val="lt2"/>
                  </a:solidFill>
                  <a:latin typeface="Times New Roman" panose="02020603050405020304" charset="0"/>
                  <a:ea typeface="Fira Sans Condensed" panose="020B0503050000020004"/>
                  <a:cs typeface="Times New Roman" panose="02020603050405020304" charset="0"/>
                  <a:sym typeface="Fira Sans Condensed" panose="020B0503050000020004"/>
                </a:rPr>
                <a:t>:</a:t>
              </a:r>
              <a:br>
                <a:rPr lang="ar-SA" altLang="en-US" sz="1800" b="1">
                  <a:solidFill>
                    <a:schemeClr val="lt2"/>
                  </a:solidFill>
                  <a:latin typeface="Times New Roman" panose="02020603050405020304" charset="0"/>
                  <a:ea typeface="Fira Sans Condensed" panose="020B0503050000020004"/>
                  <a:cs typeface="Times New Roman" panose="02020603050405020304" charset="0"/>
                  <a:sym typeface="Fira Sans Condensed" panose="020B0503050000020004"/>
                </a:rPr>
              </a:br>
              <a:r>
                <a:rPr lang="en-US" altLang="ar-SA" sz="1800" b="1">
                  <a:solidFill>
                    <a:schemeClr val="lt2"/>
                  </a:solidFill>
                  <a:latin typeface="Times New Roman" panose="02020603050405020304" charset="0"/>
                  <a:ea typeface="Fira Sans Condensed" panose="020B0503050000020004"/>
                  <a:cs typeface="Times New Roman" panose="02020603050405020304" charset="0"/>
                  <a:sym typeface="Fira Sans Condensed" panose="020B0503050000020004"/>
                </a:rPr>
                <a:t>T</a:t>
              </a:r>
              <a:r>
                <a:rPr lang="en-US" altLang="en-US" sz="1600" b="1">
                  <a:solidFill>
                    <a:schemeClr val="lt2"/>
                  </a:solidFill>
                  <a:latin typeface="Times New Roman" panose="02020603050405020304" charset="0"/>
                  <a:ea typeface="Fira Sans Condensed" panose="020B0503050000020004"/>
                  <a:cs typeface="Times New Roman" panose="02020603050405020304" charset="0"/>
                  <a:sym typeface="Fira Sans Condensed" panose="020B0503050000020004"/>
                </a:rPr>
                <a:t>his is useful for assessing whether someone is being deceptive or hiding something.</a:t>
              </a:r>
            </a:p>
          </p:txBody>
        </p:sp>
      </p:grpSp>
      <p:sp>
        <p:nvSpPr>
          <p:cNvPr id="75" name="Google Shape;75;p17"/>
          <p:cNvSpPr txBox="1"/>
          <p:nvPr/>
        </p:nvSpPr>
        <p:spPr>
          <a:xfrm>
            <a:off x="2167255" y="3412490"/>
            <a:ext cx="2654300" cy="1421765"/>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altLang="en-US" sz="1800" b="1" dirty="0">
                <a:solidFill>
                  <a:schemeClr val="lt2"/>
                </a:solidFill>
                <a:latin typeface="Times New Roman" panose="02020603050405020304" charset="0"/>
                <a:ea typeface="Rajdhani" panose="02000000000000000000"/>
                <a:cs typeface="Times New Roman" panose="02020603050405020304" charset="0"/>
                <a:sym typeface="Rajdhani" panose="02000000000000000000"/>
              </a:rPr>
              <a:t>Quick Threat Response: </a:t>
            </a:r>
            <a:r>
              <a:rPr lang="en-US" altLang="en-US" sz="1600" b="1" dirty="0">
                <a:solidFill>
                  <a:schemeClr val="lt2"/>
                </a:solidFill>
                <a:latin typeface="Times New Roman" panose="02020603050405020304" charset="0"/>
                <a:ea typeface="Rajdhani" panose="02000000000000000000"/>
                <a:cs typeface="Times New Roman" panose="02020603050405020304" charset="0"/>
                <a:sym typeface="Rajdhani" panose="02000000000000000000"/>
              </a:rPr>
              <a:t>Detecting them in real-time allows security personnel to respond quickly to potential threats.</a:t>
            </a:r>
          </a:p>
        </p:txBody>
      </p:sp>
      <p:sp>
        <p:nvSpPr>
          <p:cNvPr id="78" name="Google Shape;78;p17"/>
          <p:cNvSpPr txBox="1"/>
          <p:nvPr/>
        </p:nvSpPr>
        <p:spPr>
          <a:xfrm>
            <a:off x="5699125" y="3498850"/>
            <a:ext cx="2359660" cy="1016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altLang="en-US" sz="1600" b="1">
                <a:solidFill>
                  <a:schemeClr val="lt2"/>
                </a:solidFill>
                <a:latin typeface="Times New Roman" panose="02020603050405020304" charset="0"/>
                <a:ea typeface="Rajdhani" panose="02000000000000000000"/>
                <a:cs typeface="Times New Roman" panose="02020603050405020304" charset="0"/>
                <a:sym typeface="Rajdhani" panose="02000000000000000000"/>
              </a:rPr>
              <a:t>Better Security Systems</a:t>
            </a:r>
            <a:r>
              <a:rPr lang="ar-SA" altLang="en-US" sz="1600" b="1">
                <a:solidFill>
                  <a:schemeClr val="lt2"/>
                </a:solidFill>
                <a:latin typeface="Times New Roman" panose="02020603050405020304" charset="0"/>
                <a:ea typeface="Rajdhani" panose="02000000000000000000"/>
                <a:cs typeface="Times New Roman" panose="02020603050405020304" charset="0"/>
                <a:sym typeface="Rajdhani" panose="02000000000000000000"/>
              </a:rPr>
              <a:t>:</a:t>
            </a:r>
            <a:r>
              <a:rPr lang="en-US" altLang="en-US" sz="1600" b="1">
                <a:solidFill>
                  <a:schemeClr val="lt2"/>
                </a:solidFill>
                <a:latin typeface="Times New Roman" panose="02020603050405020304" charset="0"/>
                <a:ea typeface="Rajdhani" panose="02000000000000000000"/>
                <a:cs typeface="Times New Roman" panose="02020603050405020304" charset="0"/>
                <a:sym typeface="Rajdhani" panose="02000000000000000000"/>
              </a:rPr>
              <a:t>It can help enhance the ability to detect hidden threats such as attack.</a:t>
            </a:r>
            <a:endParaRPr lang="ar-SA" altLang="en-US" sz="1600" b="1">
              <a:solidFill>
                <a:schemeClr val="lt2"/>
              </a:solidFill>
              <a:latin typeface="Times New Roman" panose="02020603050405020304" charset="0"/>
              <a:ea typeface="Rajdhani" panose="02000000000000000000"/>
              <a:cs typeface="Times New Roman" panose="02020603050405020304" charset="0"/>
              <a:sym typeface="Rajdhani" panose="02000000000000000000"/>
            </a:endParaRPr>
          </a:p>
        </p:txBody>
      </p:sp>
      <p:grpSp>
        <p:nvGrpSpPr>
          <p:cNvPr id="80" name="Google Shape;80;p17"/>
          <p:cNvGrpSpPr/>
          <p:nvPr/>
        </p:nvGrpSpPr>
        <p:grpSpPr>
          <a:xfrm>
            <a:off x="2167065" y="1573892"/>
            <a:ext cx="2505710" cy="1369695"/>
            <a:chOff x="2167065" y="1464723"/>
            <a:chExt cx="2505710" cy="1369695"/>
          </a:xfrm>
        </p:grpSpPr>
        <p:sp>
          <p:nvSpPr>
            <p:cNvPr id="81" name="Google Shape;81;p17"/>
            <p:cNvSpPr txBox="1"/>
            <p:nvPr/>
          </p:nvSpPr>
          <p:spPr>
            <a:xfrm>
              <a:off x="2313750" y="1566323"/>
              <a:ext cx="2155190" cy="80391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82" name="Google Shape;82;p17"/>
            <p:cNvSpPr txBox="1"/>
            <p:nvPr/>
          </p:nvSpPr>
          <p:spPr>
            <a:xfrm>
              <a:off x="2167065" y="1464723"/>
              <a:ext cx="2505710" cy="136969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en-US" sz="1600" b="1" dirty="0">
                  <a:solidFill>
                    <a:schemeClr val="lt2"/>
                  </a:solidFill>
                  <a:latin typeface="Times New Roman" panose="02020603050405020304" charset="0"/>
                  <a:ea typeface="Fira Sans Condensed" panose="020B0503050000020004"/>
                  <a:cs typeface="Times New Roman" panose="02020603050405020304" charset="0"/>
                  <a:sym typeface="Fira Sans Condensed" panose="020B0503050000020004"/>
                </a:rPr>
                <a:t>Attacker Intent Detection:</a:t>
              </a:r>
              <a:br>
                <a:rPr lang="en-US" altLang="en-US" sz="1600" b="1" dirty="0">
                  <a:solidFill>
                    <a:schemeClr val="lt2"/>
                  </a:solidFill>
                  <a:latin typeface="Times New Roman" panose="02020603050405020304" charset="0"/>
                  <a:ea typeface="Fira Sans Condensed" panose="020B0503050000020004"/>
                  <a:cs typeface="Times New Roman" panose="02020603050405020304" charset="0"/>
                  <a:sym typeface="Fira Sans Condensed" panose="020B0503050000020004"/>
                </a:rPr>
              </a:br>
              <a:r>
                <a:rPr lang="en-US" altLang="en-US" sz="1600" b="1" dirty="0">
                  <a:solidFill>
                    <a:schemeClr val="lt2"/>
                  </a:solidFill>
                  <a:latin typeface="Times New Roman" panose="02020603050405020304" charset="0"/>
                  <a:ea typeface="Fira Sans Condensed" panose="020B0503050000020004"/>
                  <a:cs typeface="Times New Roman" panose="02020603050405020304" charset="0"/>
                  <a:sym typeface="Fira Sans Condensed" panose="020B0503050000020004"/>
                </a:rPr>
                <a:t>Detecting these subtle signs helps identify potential threats early.</a:t>
              </a:r>
            </a:p>
          </p:txBody>
        </p:sp>
      </p:grpSp>
      <p:sp>
        <p:nvSpPr>
          <p:cNvPr id="83" name="Google Shape;83;p17"/>
          <p:cNvSpPr/>
          <p:nvPr/>
        </p:nvSpPr>
        <p:spPr>
          <a:xfrm>
            <a:off x="1289677" y="1652336"/>
            <a:ext cx="877800" cy="877800"/>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4000" b="1">
                <a:solidFill>
                  <a:schemeClr val="lt2"/>
                </a:solidFill>
                <a:latin typeface="Rajdhani" panose="02000000000000000000"/>
                <a:ea typeface="Rajdhani" panose="02000000000000000000"/>
                <a:cs typeface="Rajdhani" panose="02000000000000000000"/>
                <a:sym typeface="Rajdhani" panose="02000000000000000000"/>
              </a:rPr>
              <a:t>1</a:t>
            </a:r>
          </a:p>
        </p:txBody>
      </p:sp>
      <p:sp>
        <p:nvSpPr>
          <p:cNvPr id="84" name="Google Shape;84;p17"/>
          <p:cNvSpPr/>
          <p:nvPr/>
        </p:nvSpPr>
        <p:spPr>
          <a:xfrm>
            <a:off x="4821571" y="1652336"/>
            <a:ext cx="877800" cy="877800"/>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4000" b="1">
                <a:solidFill>
                  <a:schemeClr val="lt2"/>
                </a:solidFill>
                <a:latin typeface="Rajdhani" panose="02000000000000000000"/>
                <a:ea typeface="Rajdhani" panose="02000000000000000000"/>
                <a:cs typeface="Rajdhani" panose="02000000000000000000"/>
                <a:sym typeface="Rajdhani" panose="02000000000000000000"/>
              </a:rPr>
              <a:t>2</a:t>
            </a:r>
          </a:p>
        </p:txBody>
      </p:sp>
      <p:sp>
        <p:nvSpPr>
          <p:cNvPr id="85" name="Google Shape;85;p17"/>
          <p:cNvSpPr/>
          <p:nvPr/>
        </p:nvSpPr>
        <p:spPr>
          <a:xfrm>
            <a:off x="1289677" y="3475047"/>
            <a:ext cx="877800" cy="877800"/>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4000" b="1">
                <a:solidFill>
                  <a:schemeClr val="lt2"/>
                </a:solidFill>
                <a:latin typeface="Rajdhani" panose="02000000000000000000"/>
                <a:ea typeface="Rajdhani" panose="02000000000000000000"/>
                <a:cs typeface="Rajdhani" panose="02000000000000000000"/>
                <a:sym typeface="Rajdhani" panose="02000000000000000000"/>
              </a:rPr>
              <a:t>3</a:t>
            </a:r>
          </a:p>
        </p:txBody>
      </p:sp>
      <p:sp>
        <p:nvSpPr>
          <p:cNvPr id="86" name="Google Shape;86;p17"/>
          <p:cNvSpPr/>
          <p:nvPr/>
        </p:nvSpPr>
        <p:spPr>
          <a:xfrm>
            <a:off x="4821571" y="3475047"/>
            <a:ext cx="877800" cy="877800"/>
          </a:xfrm>
          <a:prstGeom prst="roundRect">
            <a:avLst>
              <a:gd name="adj" fmla="val 0"/>
            </a:avLst>
          </a:prstGeom>
          <a:solidFill>
            <a:srgbClr val="F3F3F3">
              <a:alpha val="2372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4000" b="1">
                <a:solidFill>
                  <a:schemeClr val="lt2"/>
                </a:solidFill>
                <a:latin typeface="Rajdhani" panose="02000000000000000000"/>
                <a:ea typeface="Rajdhani" panose="02000000000000000000"/>
                <a:cs typeface="Rajdhani" panose="02000000000000000000"/>
                <a:sym typeface="Rajdhani" panose="02000000000000000000"/>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133985" y="198755"/>
            <a:ext cx="8693785" cy="91376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sz="3200" dirty="0">
                <a:latin typeface="Times New Roman" panose="02020603050405020304" charset="0"/>
                <a:cs typeface="Times New Roman" panose="02020603050405020304" charset="0"/>
              </a:rPr>
              <a:t>Facial Micro-Expressions Applications In</a:t>
            </a:r>
            <a:br>
              <a:rPr lang="en-US" altLang="en-US" sz="3200" dirty="0">
                <a:latin typeface="Times New Roman" panose="02020603050405020304" charset="0"/>
                <a:cs typeface="Times New Roman" panose="02020603050405020304" charset="0"/>
              </a:rPr>
            </a:br>
            <a:r>
              <a:rPr lang="en-US" altLang="en-US" sz="3200" dirty="0">
                <a:latin typeface="Times New Roman" panose="02020603050405020304" charset="0"/>
                <a:cs typeface="Times New Roman" panose="02020603050405020304" charset="0"/>
              </a:rPr>
              <a:t> Real World</a:t>
            </a:r>
          </a:p>
        </p:txBody>
      </p:sp>
      <p:sp>
        <p:nvSpPr>
          <p:cNvPr id="92" name="Google Shape;92;p18"/>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93" name="Google Shape;93;p18"/>
          <p:cNvSpPr/>
          <p:nvPr/>
        </p:nvSpPr>
        <p:spPr>
          <a:xfrm rot="21300000">
            <a:off x="1594712"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8"/>
          <p:cNvSpPr/>
          <p:nvPr/>
        </p:nvSpPr>
        <p:spPr>
          <a:xfrm>
            <a:off x="3537346"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8"/>
          <p:cNvSpPr/>
          <p:nvPr/>
        </p:nvSpPr>
        <p:spPr>
          <a:xfrm>
            <a:off x="5479979"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8"/>
          <p:cNvSpPr/>
          <p:nvPr/>
        </p:nvSpPr>
        <p:spPr>
          <a:xfrm>
            <a:off x="7422612" y="2564697"/>
            <a:ext cx="126900" cy="126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7" name="Google Shape;97;p18"/>
          <p:cNvCxnSpPr>
            <a:stCxn id="93" idx="6"/>
            <a:endCxn id="94" idx="2"/>
          </p:cNvCxnSpPr>
          <p:nvPr/>
        </p:nvCxnSpPr>
        <p:spPr>
          <a:xfrm>
            <a:off x="1721612" y="2622432"/>
            <a:ext cx="1816100" cy="5715"/>
          </a:xfrm>
          <a:prstGeom prst="straightConnector1">
            <a:avLst/>
          </a:prstGeom>
          <a:noFill/>
          <a:ln w="19050" cap="flat" cmpd="sng">
            <a:solidFill>
              <a:schemeClr val="lt2"/>
            </a:solidFill>
            <a:prstDash val="solid"/>
            <a:round/>
            <a:headEnd type="none" w="med" len="med"/>
            <a:tailEnd type="none" w="med" len="med"/>
          </a:ln>
        </p:spPr>
      </p:cxnSp>
      <p:cxnSp>
        <p:nvCxnSpPr>
          <p:cNvPr id="98" name="Google Shape;98;p18"/>
          <p:cNvCxnSpPr>
            <a:stCxn id="94" idx="6"/>
            <a:endCxn id="95" idx="2"/>
          </p:cNvCxnSpPr>
          <p:nvPr/>
        </p:nvCxnSpPr>
        <p:spPr>
          <a:xfrm>
            <a:off x="3664246" y="2628147"/>
            <a:ext cx="1815600" cy="0"/>
          </a:xfrm>
          <a:prstGeom prst="straightConnector1">
            <a:avLst/>
          </a:prstGeom>
          <a:noFill/>
          <a:ln w="19050" cap="flat" cmpd="sng">
            <a:solidFill>
              <a:schemeClr val="lt2"/>
            </a:solidFill>
            <a:prstDash val="solid"/>
            <a:round/>
            <a:headEnd type="none" w="med" len="med"/>
            <a:tailEnd type="none" w="med" len="med"/>
          </a:ln>
        </p:spPr>
      </p:cxnSp>
      <p:cxnSp>
        <p:nvCxnSpPr>
          <p:cNvPr id="99" name="Google Shape;99;p18"/>
          <p:cNvCxnSpPr>
            <a:stCxn id="95" idx="6"/>
            <a:endCxn id="96" idx="2"/>
          </p:cNvCxnSpPr>
          <p:nvPr/>
        </p:nvCxnSpPr>
        <p:spPr>
          <a:xfrm>
            <a:off x="5606879" y="2628147"/>
            <a:ext cx="1815600" cy="0"/>
          </a:xfrm>
          <a:prstGeom prst="straightConnector1">
            <a:avLst/>
          </a:prstGeom>
          <a:noFill/>
          <a:ln w="19050" cap="flat" cmpd="sng">
            <a:solidFill>
              <a:schemeClr val="lt2"/>
            </a:solidFill>
            <a:prstDash val="solid"/>
            <a:round/>
            <a:headEnd type="none" w="med" len="med"/>
            <a:tailEnd type="none" w="med" len="med"/>
          </a:ln>
        </p:spPr>
      </p:cxnSp>
      <p:cxnSp>
        <p:nvCxnSpPr>
          <p:cNvPr id="100" name="Google Shape;100;p18"/>
          <p:cNvCxnSpPr>
            <a:stCxn id="93" idx="4"/>
            <a:endCxn id="101" idx="0"/>
          </p:cNvCxnSpPr>
          <p:nvPr/>
        </p:nvCxnSpPr>
        <p:spPr>
          <a:xfrm flipH="1">
            <a:off x="1658797" y="2691597"/>
            <a:ext cx="5080" cy="323850"/>
          </a:xfrm>
          <a:prstGeom prst="straightConnector1">
            <a:avLst/>
          </a:prstGeom>
          <a:noFill/>
          <a:ln w="19050" cap="flat" cmpd="sng">
            <a:solidFill>
              <a:schemeClr val="lt2"/>
            </a:solidFill>
            <a:prstDash val="solid"/>
            <a:round/>
            <a:headEnd type="none" w="med" len="med"/>
            <a:tailEnd type="none" w="med" len="med"/>
          </a:ln>
        </p:spPr>
      </p:cxnSp>
      <p:cxnSp>
        <p:nvCxnSpPr>
          <p:cNvPr id="102" name="Google Shape;102;p18"/>
          <p:cNvCxnSpPr>
            <a:stCxn id="94" idx="4"/>
            <a:endCxn id="103" idx="0"/>
          </p:cNvCxnSpPr>
          <p:nvPr/>
        </p:nvCxnSpPr>
        <p:spPr>
          <a:xfrm>
            <a:off x="3600796" y="2691597"/>
            <a:ext cx="0" cy="323850"/>
          </a:xfrm>
          <a:prstGeom prst="straightConnector1">
            <a:avLst/>
          </a:prstGeom>
          <a:noFill/>
          <a:ln w="19050" cap="flat" cmpd="sng">
            <a:solidFill>
              <a:schemeClr val="lt2"/>
            </a:solidFill>
            <a:prstDash val="solid"/>
            <a:round/>
            <a:headEnd type="none" w="med" len="med"/>
            <a:tailEnd type="none" w="med" len="med"/>
          </a:ln>
        </p:spPr>
      </p:cxnSp>
      <p:cxnSp>
        <p:nvCxnSpPr>
          <p:cNvPr id="104" name="Google Shape;104;p18"/>
          <p:cNvCxnSpPr>
            <a:stCxn id="95" idx="4"/>
            <a:endCxn id="105" idx="0"/>
          </p:cNvCxnSpPr>
          <p:nvPr/>
        </p:nvCxnSpPr>
        <p:spPr>
          <a:xfrm>
            <a:off x="5543429" y="2691597"/>
            <a:ext cx="0" cy="323850"/>
          </a:xfrm>
          <a:prstGeom prst="straightConnector1">
            <a:avLst/>
          </a:prstGeom>
          <a:noFill/>
          <a:ln w="19050" cap="flat" cmpd="sng">
            <a:solidFill>
              <a:schemeClr val="lt2"/>
            </a:solidFill>
            <a:prstDash val="solid"/>
            <a:round/>
            <a:headEnd type="none" w="med" len="med"/>
            <a:tailEnd type="none" w="med" len="med"/>
          </a:ln>
        </p:spPr>
      </p:cxnSp>
      <p:cxnSp>
        <p:nvCxnSpPr>
          <p:cNvPr id="106" name="Google Shape;106;p18"/>
          <p:cNvCxnSpPr>
            <a:stCxn id="96" idx="4"/>
            <a:endCxn id="107" idx="0"/>
          </p:cNvCxnSpPr>
          <p:nvPr/>
        </p:nvCxnSpPr>
        <p:spPr>
          <a:xfrm>
            <a:off x="7486062" y="2691597"/>
            <a:ext cx="0" cy="323850"/>
          </a:xfrm>
          <a:prstGeom prst="straightConnector1">
            <a:avLst/>
          </a:prstGeom>
          <a:noFill/>
          <a:ln w="19050" cap="flat" cmpd="sng">
            <a:solidFill>
              <a:schemeClr val="lt2"/>
            </a:solidFill>
            <a:prstDash val="solid"/>
            <a:round/>
            <a:headEnd type="none" w="med" len="med"/>
            <a:tailEnd type="none" w="med" len="med"/>
          </a:ln>
        </p:spPr>
      </p:cxnSp>
      <p:grpSp>
        <p:nvGrpSpPr>
          <p:cNvPr id="119" name="Google Shape;119;p18"/>
          <p:cNvGrpSpPr/>
          <p:nvPr/>
        </p:nvGrpSpPr>
        <p:grpSpPr>
          <a:xfrm>
            <a:off x="435295" y="1104499"/>
            <a:ext cx="2390775" cy="3207385"/>
            <a:chOff x="435295" y="1104499"/>
            <a:chExt cx="2390775" cy="3207385"/>
          </a:xfrm>
        </p:grpSpPr>
        <p:sp>
          <p:nvSpPr>
            <p:cNvPr id="101" name="Google Shape;101;p18"/>
            <p:cNvSpPr txBox="1"/>
            <p:nvPr/>
          </p:nvSpPr>
          <p:spPr>
            <a:xfrm>
              <a:off x="716600" y="3015422"/>
              <a:ext cx="18831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0" name="Google Shape;120;p18"/>
            <p:cNvSpPr txBox="1"/>
            <p:nvPr/>
          </p:nvSpPr>
          <p:spPr>
            <a:xfrm>
              <a:off x="716600" y="3328269"/>
              <a:ext cx="1883410" cy="98361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Used in law enforcement and security to detect deception                   (lie detection).</a:t>
              </a:r>
              <a:endParaRPr lang="ar-SA"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sp>
          <p:nvSpPr>
            <p:cNvPr id="121" name="Google Shape;121;p18"/>
            <p:cNvSpPr txBox="1"/>
            <p:nvPr/>
          </p:nvSpPr>
          <p:spPr>
            <a:xfrm>
              <a:off x="435295" y="1104499"/>
              <a:ext cx="2390775" cy="1143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1800" dirty="0">
                  <a:solidFill>
                    <a:schemeClr val="lt2"/>
                  </a:solidFill>
                  <a:latin typeface="+mn-lt"/>
                  <a:ea typeface="Rajdhani" panose="02000000000000000000"/>
                  <a:cs typeface="Rajdhani" panose="02000000000000000000"/>
                  <a:sym typeface="Rajdhani" panose="02000000000000000000"/>
                </a:rPr>
                <a:t>Security and Deception Detection</a:t>
              </a:r>
            </a:p>
          </p:txBody>
        </p:sp>
      </p:grpSp>
      <p:grpSp>
        <p:nvGrpSpPr>
          <p:cNvPr id="122" name="Google Shape;122;p18"/>
          <p:cNvGrpSpPr/>
          <p:nvPr/>
        </p:nvGrpSpPr>
        <p:grpSpPr>
          <a:xfrm>
            <a:off x="2659233" y="1432159"/>
            <a:ext cx="1883410" cy="2665730"/>
            <a:chOff x="2659233" y="1432159"/>
            <a:chExt cx="1883410" cy="2665730"/>
          </a:xfrm>
        </p:grpSpPr>
        <p:sp>
          <p:nvSpPr>
            <p:cNvPr id="103" name="Google Shape;103;p18"/>
            <p:cNvSpPr txBox="1"/>
            <p:nvPr/>
          </p:nvSpPr>
          <p:spPr>
            <a:xfrm>
              <a:off x="2659233" y="3015422"/>
              <a:ext cx="18831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3" name="Google Shape;123;p18"/>
            <p:cNvSpPr txBox="1"/>
            <p:nvPr/>
          </p:nvSpPr>
          <p:spPr>
            <a:xfrm>
              <a:off x="2659233" y="3328269"/>
              <a:ext cx="1883410" cy="76962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Helps therapists understand unspoken emotions , aiding in diagnosis of disorders and treatment.</a:t>
              </a:r>
            </a:p>
          </p:txBody>
        </p:sp>
        <p:sp>
          <p:nvSpPr>
            <p:cNvPr id="124" name="Google Shape;124;p18"/>
            <p:cNvSpPr txBox="1"/>
            <p:nvPr/>
          </p:nvSpPr>
          <p:spPr>
            <a:xfrm>
              <a:off x="2659233" y="1432159"/>
              <a:ext cx="1883410" cy="81534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1800" dirty="0">
                  <a:solidFill>
                    <a:schemeClr val="lt2"/>
                  </a:solidFill>
                  <a:latin typeface="+mn-lt"/>
                  <a:ea typeface="Rajdhani" panose="02000000000000000000"/>
                  <a:cs typeface="Rajdhani" panose="02000000000000000000"/>
                  <a:sym typeface="Rajdhani" panose="02000000000000000000"/>
                </a:rPr>
                <a:t>Psychology and Therapy</a:t>
              </a:r>
            </a:p>
          </p:txBody>
        </p:sp>
      </p:grpSp>
      <p:grpSp>
        <p:nvGrpSpPr>
          <p:cNvPr id="125" name="Google Shape;125;p18"/>
          <p:cNvGrpSpPr/>
          <p:nvPr/>
        </p:nvGrpSpPr>
        <p:grpSpPr>
          <a:xfrm>
            <a:off x="4601867" y="830814"/>
            <a:ext cx="1883410" cy="3046136"/>
            <a:chOff x="4601867" y="830814"/>
            <a:chExt cx="1883410" cy="3046136"/>
          </a:xfrm>
        </p:grpSpPr>
        <p:sp>
          <p:nvSpPr>
            <p:cNvPr id="105" name="Google Shape;105;p18"/>
            <p:cNvSpPr txBox="1"/>
            <p:nvPr/>
          </p:nvSpPr>
          <p:spPr>
            <a:xfrm>
              <a:off x="4601867" y="3015422"/>
              <a:ext cx="18831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26" name="Google Shape;126;p18"/>
            <p:cNvSpPr txBox="1"/>
            <p:nvPr/>
          </p:nvSpPr>
          <p:spPr>
            <a:xfrm>
              <a:off x="4601867" y="3328250"/>
              <a:ext cx="18831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Used in job interviews to detect signs of discomfort or deception.</a:t>
              </a:r>
            </a:p>
          </p:txBody>
        </p:sp>
        <p:sp>
          <p:nvSpPr>
            <p:cNvPr id="127" name="Google Shape;127;p18"/>
            <p:cNvSpPr txBox="1"/>
            <p:nvPr/>
          </p:nvSpPr>
          <p:spPr>
            <a:xfrm>
              <a:off x="4601867" y="830814"/>
              <a:ext cx="1883410" cy="1416685"/>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1800" dirty="0">
                  <a:solidFill>
                    <a:schemeClr val="lt2"/>
                  </a:solidFill>
                  <a:latin typeface="+mn-lt"/>
                  <a:ea typeface="Rajdhani" panose="02000000000000000000"/>
                  <a:cs typeface="Rajdhani" panose="02000000000000000000"/>
                  <a:sym typeface="Rajdhani" panose="02000000000000000000"/>
                </a:rPr>
                <a:t>Human Resources and Recruitment</a:t>
              </a:r>
            </a:p>
          </p:txBody>
        </p:sp>
      </p:grpSp>
      <p:grpSp>
        <p:nvGrpSpPr>
          <p:cNvPr id="128" name="Google Shape;128;p18"/>
          <p:cNvGrpSpPr/>
          <p:nvPr/>
        </p:nvGrpSpPr>
        <p:grpSpPr>
          <a:xfrm>
            <a:off x="6544500" y="1082274"/>
            <a:ext cx="1883100" cy="2795134"/>
            <a:chOff x="6544500" y="1082274"/>
            <a:chExt cx="1883100" cy="2795134"/>
          </a:xfrm>
        </p:grpSpPr>
        <p:grpSp>
          <p:nvGrpSpPr>
            <p:cNvPr id="129" name="Google Shape;129;p18"/>
            <p:cNvGrpSpPr/>
            <p:nvPr/>
          </p:nvGrpSpPr>
          <p:grpSpPr>
            <a:xfrm>
              <a:off x="6544500" y="3015422"/>
              <a:ext cx="1883100" cy="861986"/>
              <a:chOff x="6544500" y="3015422"/>
              <a:chExt cx="1883100" cy="861986"/>
            </a:xfrm>
          </p:grpSpPr>
          <p:sp>
            <p:nvSpPr>
              <p:cNvPr id="107" name="Google Shape;107;p18"/>
              <p:cNvSpPr txBox="1"/>
              <p:nvPr/>
            </p:nvSpPr>
            <p:spPr>
              <a:xfrm>
                <a:off x="6544500" y="3015422"/>
                <a:ext cx="18831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30" name="Google Shape;130;p18"/>
              <p:cNvSpPr txBox="1"/>
              <p:nvPr/>
            </p:nvSpPr>
            <p:spPr>
              <a:xfrm>
                <a:off x="6544500" y="3328708"/>
                <a:ext cx="18831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Assists in identifying underlying emotions during negotiations or conflict resolution.</a:t>
                </a:r>
              </a:p>
            </p:txBody>
          </p:sp>
        </p:grpSp>
        <p:sp>
          <p:nvSpPr>
            <p:cNvPr id="131" name="Google Shape;131;p18"/>
            <p:cNvSpPr txBox="1"/>
            <p:nvPr/>
          </p:nvSpPr>
          <p:spPr>
            <a:xfrm>
              <a:off x="6544500" y="1082274"/>
              <a:ext cx="1868805" cy="1165225"/>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1800" dirty="0">
                  <a:solidFill>
                    <a:schemeClr val="lt2"/>
                  </a:solidFill>
                  <a:latin typeface="+mn-lt"/>
                  <a:ea typeface="Rajdhani" panose="02000000000000000000"/>
                  <a:cs typeface="Rajdhani" panose="02000000000000000000"/>
                  <a:sym typeface="Rajdhani" panose="02000000000000000000"/>
                </a:rPr>
                <a:t>Negotiation and Conflict Resolution</a:t>
              </a:r>
            </a:p>
          </p:txBody>
        </p:sp>
      </p:grpSp>
      <p:cxnSp>
        <p:nvCxnSpPr>
          <p:cNvPr id="132" name="Google Shape;132;p18"/>
          <p:cNvCxnSpPr>
            <a:stCxn id="93" idx="0"/>
            <a:endCxn id="121" idx="2"/>
          </p:cNvCxnSpPr>
          <p:nvPr/>
        </p:nvCxnSpPr>
        <p:spPr>
          <a:xfrm flipH="1" flipV="1">
            <a:off x="1631492" y="2247197"/>
            <a:ext cx="21590" cy="317500"/>
          </a:xfrm>
          <a:prstGeom prst="straightConnector1">
            <a:avLst/>
          </a:prstGeom>
          <a:noFill/>
          <a:ln w="19050" cap="flat" cmpd="sng">
            <a:solidFill>
              <a:schemeClr val="lt2"/>
            </a:solidFill>
            <a:prstDash val="solid"/>
            <a:round/>
            <a:headEnd type="none" w="med" len="med"/>
            <a:tailEnd type="none" w="med" len="med"/>
          </a:ln>
        </p:spPr>
      </p:cxnSp>
      <p:cxnSp>
        <p:nvCxnSpPr>
          <p:cNvPr id="133" name="Google Shape;133;p18"/>
          <p:cNvCxnSpPr>
            <a:stCxn id="94" idx="0"/>
            <a:endCxn id="124" idx="2"/>
          </p:cNvCxnSpPr>
          <p:nvPr/>
        </p:nvCxnSpPr>
        <p:spPr>
          <a:xfrm flipV="1">
            <a:off x="3600796" y="2247197"/>
            <a:ext cx="0" cy="317500"/>
          </a:xfrm>
          <a:prstGeom prst="straightConnector1">
            <a:avLst/>
          </a:prstGeom>
          <a:noFill/>
          <a:ln w="19050" cap="flat" cmpd="sng">
            <a:solidFill>
              <a:schemeClr val="lt2"/>
            </a:solidFill>
            <a:prstDash val="solid"/>
            <a:round/>
            <a:headEnd type="none" w="med" len="med"/>
            <a:tailEnd type="none" w="med" len="med"/>
          </a:ln>
        </p:spPr>
      </p:cxnSp>
      <p:cxnSp>
        <p:nvCxnSpPr>
          <p:cNvPr id="134" name="Google Shape;134;p18"/>
          <p:cNvCxnSpPr>
            <a:stCxn id="95" idx="0"/>
            <a:endCxn id="127" idx="2"/>
          </p:cNvCxnSpPr>
          <p:nvPr/>
        </p:nvCxnSpPr>
        <p:spPr>
          <a:xfrm flipV="1">
            <a:off x="5543429" y="2247197"/>
            <a:ext cx="0" cy="317500"/>
          </a:xfrm>
          <a:prstGeom prst="straightConnector1">
            <a:avLst/>
          </a:prstGeom>
          <a:noFill/>
          <a:ln w="19050" cap="flat" cmpd="sng">
            <a:solidFill>
              <a:schemeClr val="lt2"/>
            </a:solidFill>
            <a:prstDash val="solid"/>
            <a:round/>
            <a:headEnd type="none" w="med" len="med"/>
            <a:tailEnd type="none" w="med" len="med"/>
          </a:ln>
        </p:spPr>
      </p:cxnSp>
      <p:cxnSp>
        <p:nvCxnSpPr>
          <p:cNvPr id="135" name="Google Shape;135;p18"/>
          <p:cNvCxnSpPr>
            <a:stCxn id="96" idx="0"/>
            <a:endCxn id="131" idx="2"/>
          </p:cNvCxnSpPr>
          <p:nvPr/>
        </p:nvCxnSpPr>
        <p:spPr>
          <a:xfrm flipH="1" flipV="1">
            <a:off x="7479077" y="2247197"/>
            <a:ext cx="6985" cy="317500"/>
          </a:xfrm>
          <a:prstGeom prst="straightConnector1">
            <a:avLst/>
          </a:prstGeom>
          <a:noFill/>
          <a:ln w="19050" cap="flat" cmpd="sng">
            <a:solidFill>
              <a:schemeClr val="lt2"/>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36"/>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latin typeface="Times New Roman" panose="02020603050405020304" charset="0"/>
                <a:cs typeface="Times New Roman" panose="02020603050405020304" charset="0"/>
              </a:rPr>
              <a:t>Micro-Expressions vs. Macro-Expressions</a:t>
            </a:r>
          </a:p>
        </p:txBody>
      </p:sp>
      <p:sp>
        <p:nvSpPr>
          <p:cNvPr id="1058" name="Google Shape;1058;p36"/>
          <p:cNvSpPr txBox="1"/>
          <p:nvPr/>
        </p:nvSpPr>
        <p:spPr>
          <a:xfrm>
            <a:off x="2844250" y="1178275"/>
            <a:ext cx="35127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1059" name="Google Shape;1059;p36"/>
          <p:cNvGrpSpPr/>
          <p:nvPr/>
        </p:nvGrpSpPr>
        <p:grpSpPr>
          <a:xfrm>
            <a:off x="4618355" y="1913255"/>
            <a:ext cx="3280410" cy="731520"/>
            <a:chOff x="4618363" y="1783710"/>
            <a:chExt cx="3280410" cy="861296"/>
          </a:xfrm>
        </p:grpSpPr>
        <p:sp>
          <p:nvSpPr>
            <p:cNvPr id="1060" name="Google Shape;1060;p36"/>
            <p:cNvSpPr txBox="1"/>
            <p:nvPr/>
          </p:nvSpPr>
          <p:spPr>
            <a:xfrm>
              <a:off x="4618363" y="2187806"/>
              <a:ext cx="3280200" cy="45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0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61" name="Google Shape;1061;p36"/>
            <p:cNvSpPr txBox="1"/>
            <p:nvPr/>
          </p:nvSpPr>
          <p:spPr>
            <a:xfrm>
              <a:off x="4618363" y="1783710"/>
              <a:ext cx="3280410" cy="61976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US" altLang="en-US" sz="2400" b="1" dirty="0">
                  <a:solidFill>
                    <a:schemeClr val="lt2"/>
                  </a:solidFill>
                  <a:latin typeface="+mn-lt"/>
                  <a:ea typeface="Rajdhani" panose="02000000000000000000"/>
                  <a:cs typeface="Rajdhani" panose="02000000000000000000"/>
                  <a:sym typeface="Rajdhani" panose="02000000000000000000"/>
                </a:rPr>
                <a:t>Macro-Expressions</a:t>
              </a:r>
            </a:p>
          </p:txBody>
        </p:sp>
      </p:grpSp>
      <p:grpSp>
        <p:nvGrpSpPr>
          <p:cNvPr id="1062" name="Google Shape;1062;p36"/>
          <p:cNvGrpSpPr/>
          <p:nvPr/>
        </p:nvGrpSpPr>
        <p:grpSpPr>
          <a:xfrm>
            <a:off x="4618263" y="2963017"/>
            <a:ext cx="3280200" cy="1253108"/>
            <a:chOff x="4618263" y="2963017"/>
            <a:chExt cx="3280200" cy="1253108"/>
          </a:xfrm>
        </p:grpSpPr>
        <p:sp>
          <p:nvSpPr>
            <p:cNvPr id="1063" name="Google Shape;1063;p36"/>
            <p:cNvSpPr txBox="1"/>
            <p:nvPr/>
          </p:nvSpPr>
          <p:spPr>
            <a:xfrm>
              <a:off x="4618263" y="2963017"/>
              <a:ext cx="3280200" cy="4572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64" name="Google Shape;1064;p36"/>
            <p:cNvSpPr txBox="1"/>
            <p:nvPr/>
          </p:nvSpPr>
          <p:spPr>
            <a:xfrm>
              <a:off x="4618263" y="3229725"/>
              <a:ext cx="3280200" cy="986400"/>
            </a:xfrm>
            <a:prstGeom prst="rect">
              <a:avLst/>
            </a:prstGeom>
            <a:noFill/>
            <a:ln>
              <a:noFill/>
            </a:ln>
          </p:spPr>
          <p:txBody>
            <a:bodyPr spcFirstLastPara="1" wrap="square" lIns="91425" tIns="91425" rIns="91425" bIns="91425" anchor="t" anchorCtr="0">
              <a:noAutofit/>
            </a:bodyPr>
            <a:lstStyle/>
            <a:p>
              <a:pPr marL="139700" lvl="0" indent="0" algn="ctr" rtl="0">
                <a:lnSpc>
                  <a:spcPct val="100000"/>
                </a:lnSpc>
                <a:spcBef>
                  <a:spcPts val="0"/>
                </a:spcBef>
                <a:spcAft>
                  <a:spcPts val="0"/>
                </a:spcAft>
                <a:buClr>
                  <a:schemeClr val="lt2"/>
                </a:buClr>
                <a:buSzPts val="1400"/>
                <a:buFont typeface="Fira Sans Condensed" panose="020B0503050000020004"/>
                <a:buNone/>
              </a:pPr>
              <a:r>
                <a:rPr lang="en-US" altLang="en-US" sz="160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These are longer facial expressions lasting between 0.5 to 4 seconds, easier to notice, and can be faked.</a:t>
              </a:r>
            </a:p>
          </p:txBody>
        </p:sp>
      </p:grpSp>
      <p:grpSp>
        <p:nvGrpSpPr>
          <p:cNvPr id="1065" name="Google Shape;1065;p36"/>
          <p:cNvGrpSpPr/>
          <p:nvPr/>
        </p:nvGrpSpPr>
        <p:grpSpPr>
          <a:xfrm>
            <a:off x="1245650" y="2963017"/>
            <a:ext cx="3280410" cy="1252855"/>
            <a:chOff x="1245650" y="2963017"/>
            <a:chExt cx="3280410" cy="1252855"/>
          </a:xfrm>
        </p:grpSpPr>
        <p:sp>
          <p:nvSpPr>
            <p:cNvPr id="1066" name="Google Shape;1066;p36"/>
            <p:cNvSpPr txBox="1"/>
            <p:nvPr/>
          </p:nvSpPr>
          <p:spPr>
            <a:xfrm>
              <a:off x="1245650" y="2963017"/>
              <a:ext cx="3280200" cy="4572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067" name="Google Shape;1067;p36"/>
            <p:cNvSpPr txBox="1"/>
            <p:nvPr/>
          </p:nvSpPr>
          <p:spPr>
            <a:xfrm>
              <a:off x="1245650" y="3088747"/>
              <a:ext cx="3280410" cy="1127125"/>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altLang="en-US" sz="1600"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These are brief, subtle facial expressions lasting less than 500 milliseconds that reveal true emotions.</a:t>
              </a:r>
            </a:p>
          </p:txBody>
        </p:sp>
      </p:grpSp>
      <p:sp>
        <p:nvSpPr>
          <p:cNvPr id="1069" name="Google Shape;1069;p36"/>
          <p:cNvSpPr txBox="1"/>
          <p:nvPr/>
        </p:nvSpPr>
        <p:spPr>
          <a:xfrm>
            <a:off x="1231265" y="1682750"/>
            <a:ext cx="3104515" cy="82169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2400" b="1" dirty="0">
                <a:solidFill>
                  <a:schemeClr val="lt2"/>
                </a:solidFill>
                <a:latin typeface="+mn-lt"/>
                <a:ea typeface="Rajdhani" panose="02000000000000000000"/>
                <a:cs typeface="Rajdhani" panose="02000000000000000000"/>
                <a:sym typeface="Rajdhani" panose="02000000000000000000"/>
              </a:rPr>
              <a:t>Micro-Expressions</a:t>
            </a:r>
          </a:p>
        </p:txBody>
      </p:sp>
      <p:cxnSp>
        <p:nvCxnSpPr>
          <p:cNvPr id="1078" name="Google Shape;1078;p36"/>
          <p:cNvCxnSpPr/>
          <p:nvPr/>
        </p:nvCxnSpPr>
        <p:spPr>
          <a:xfrm>
            <a:off x="4572050" y="1827400"/>
            <a:ext cx="0" cy="2592000"/>
          </a:xfrm>
          <a:prstGeom prst="straightConnector1">
            <a:avLst/>
          </a:prstGeom>
          <a:noFill/>
          <a:ln w="19050" cap="flat" cmpd="sng">
            <a:solidFill>
              <a:schemeClr val="lt2"/>
            </a:solidFill>
            <a:prstDash val="solid"/>
            <a:round/>
            <a:headEnd type="oval" w="med" len="med"/>
            <a:tailEnd type="oval" w="med" len="med"/>
          </a:ln>
        </p:spPr>
      </p:cxnSp>
      <p:cxnSp>
        <p:nvCxnSpPr>
          <p:cNvPr id="1079" name="Google Shape;1079;p36"/>
          <p:cNvCxnSpPr/>
          <p:nvPr/>
        </p:nvCxnSpPr>
        <p:spPr>
          <a:xfrm>
            <a:off x="1231200" y="2866778"/>
            <a:ext cx="6681600" cy="0"/>
          </a:xfrm>
          <a:prstGeom prst="straightConnector1">
            <a:avLst/>
          </a:prstGeom>
          <a:noFill/>
          <a:ln w="19050" cap="flat" cmpd="sng">
            <a:solidFill>
              <a:schemeClr val="lt2"/>
            </a:solidFill>
            <a:prstDash val="solid"/>
            <a:round/>
            <a:headEnd type="oval" w="med" len="med"/>
            <a:tailEnd type="oval"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100" y="524260"/>
            <a:ext cx="7704000" cy="572700"/>
          </a:xfrm>
        </p:spPr>
        <p:txBody>
          <a:bodyPr/>
          <a:lstStyle/>
          <a:p>
            <a:endParaRPr lang="en-US"/>
          </a:p>
        </p:txBody>
      </p:sp>
      <p:pic>
        <p:nvPicPr>
          <p:cNvPr id="3" name="Picture 2" descr="mac"/>
          <p:cNvPicPr>
            <a:picLocks noChangeAspect="1"/>
          </p:cNvPicPr>
          <p:nvPr/>
        </p:nvPicPr>
        <p:blipFill>
          <a:blip r:embed="rId2"/>
          <a:stretch>
            <a:fillRect/>
          </a:stretch>
        </p:blipFill>
        <p:spPr>
          <a:xfrm>
            <a:off x="412896" y="232832"/>
            <a:ext cx="8318207" cy="46778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330DC-F104-3674-7C6B-16820AA2F11C}"/>
              </a:ext>
            </a:extLst>
          </p:cNvPr>
          <p:cNvSpPr>
            <a:spLocks noGrp="1"/>
          </p:cNvSpPr>
          <p:nvPr>
            <p:ph type="title"/>
          </p:nvPr>
        </p:nvSpPr>
        <p:spPr>
          <a:xfrm>
            <a:off x="594738" y="566509"/>
            <a:ext cx="7704000" cy="572700"/>
          </a:xfrm>
        </p:spPr>
        <p:txBody>
          <a:bodyPr/>
          <a:lstStyle/>
          <a:p>
            <a:r>
              <a:rPr lang="en-US" sz="3000" b="1" dirty="0">
                <a:solidFill>
                  <a:schemeClr val="tx2"/>
                </a:solidFill>
                <a:latin typeface="Times New Roman" panose="02020603050405020304" pitchFamily="18" charset="0"/>
                <a:cs typeface="Times New Roman" panose="02020603050405020304" pitchFamily="18" charset="0"/>
              </a:rPr>
              <a:t>Classification of Micro-Expression Datasets</a:t>
            </a:r>
            <a:br>
              <a:rPr lang="en-US" sz="3000" b="1" dirty="0">
                <a:solidFill>
                  <a:schemeClr val="tx2"/>
                </a:solidFill>
                <a:latin typeface="Times New Roman" panose="02020603050405020304" pitchFamily="18" charset="0"/>
                <a:cs typeface="Times New Roman" panose="02020603050405020304" pitchFamily="18" charset="0"/>
              </a:rPr>
            </a:br>
            <a:endParaRPr lang="en-US" dirty="0"/>
          </a:p>
        </p:txBody>
      </p:sp>
      <p:sp>
        <p:nvSpPr>
          <p:cNvPr id="4" name="TextBox 3">
            <a:extLst>
              <a:ext uri="{FF2B5EF4-FFF2-40B4-BE49-F238E27FC236}">
                <a16:creationId xmlns:a16="http://schemas.microsoft.com/office/drawing/2014/main" id="{DB2ED3EE-5ADF-4217-49FF-F483E0DA5973}"/>
              </a:ext>
            </a:extLst>
          </p:cNvPr>
          <p:cNvSpPr txBox="1"/>
          <p:nvPr/>
        </p:nvSpPr>
        <p:spPr>
          <a:xfrm>
            <a:off x="760782" y="1451078"/>
            <a:ext cx="7371913" cy="3108543"/>
          </a:xfrm>
          <a:prstGeom prst="rect">
            <a:avLst/>
          </a:prstGeom>
          <a:noFill/>
        </p:spPr>
        <p:txBody>
          <a:bodyPr wrap="square">
            <a:spAutoFit/>
          </a:bodyPr>
          <a:lstStyle/>
          <a:p>
            <a:r>
              <a:rPr lang="en-US" sz="2000" dirty="0">
                <a:solidFill>
                  <a:schemeClr val="tx2"/>
                </a:solidFill>
                <a:latin typeface="Fira Sans Condensed" panose="020B0503050000020004" pitchFamily="34" charset="0"/>
              </a:rPr>
              <a:t>Micro-expression datasets are classified as acted or spontaneous. </a:t>
            </a:r>
          </a:p>
          <a:p>
            <a:endParaRPr lang="en-US" sz="1600" dirty="0">
              <a:solidFill>
                <a:schemeClr val="tx2"/>
              </a:solidFill>
              <a:latin typeface="Fira Sans Condensed" panose="020B0503050000020004" pitchFamily="34" charset="0"/>
            </a:endParaRPr>
          </a:p>
          <a:p>
            <a:r>
              <a:rPr lang="en-US" sz="1600" dirty="0">
                <a:solidFill>
                  <a:schemeClr val="tx2"/>
                </a:solidFill>
                <a:latin typeface="Fira Sans Condensed" panose="020B0503050000020004" pitchFamily="34" charset="0"/>
              </a:rPr>
              <a:t>- Acted samples are performed by subjects after instruction, </a:t>
            </a:r>
          </a:p>
          <a:p>
            <a:pPr marL="285750" indent="-285750">
              <a:buFontTx/>
              <a:buChar char="-"/>
            </a:pPr>
            <a:endParaRPr lang="en-US" sz="1600" dirty="0">
              <a:solidFill>
                <a:schemeClr val="tx2"/>
              </a:solidFill>
              <a:latin typeface="Fira Sans Condensed" panose="020B0503050000020004" pitchFamily="34" charset="0"/>
            </a:endParaRPr>
          </a:p>
          <a:p>
            <a:r>
              <a:rPr lang="en-US" sz="1600" dirty="0">
                <a:solidFill>
                  <a:schemeClr val="tx2"/>
                </a:solidFill>
                <a:latin typeface="Fira Sans Condensed" panose="020B0503050000020004" pitchFamily="34" charset="0"/>
              </a:rPr>
              <a:t>- While spontaneous samples capture genuine emotions triggered in real time, making them more authentic. </a:t>
            </a:r>
          </a:p>
          <a:p>
            <a:pPr marL="285750" indent="-285750">
              <a:buFontTx/>
              <a:buChar char="-"/>
            </a:pPr>
            <a:endParaRPr lang="en-US" sz="1600" dirty="0">
              <a:solidFill>
                <a:schemeClr val="tx2"/>
              </a:solidFill>
              <a:latin typeface="Fira Sans Condensed" panose="020B0503050000020004" pitchFamily="34" charset="0"/>
            </a:endParaRPr>
          </a:p>
          <a:p>
            <a:r>
              <a:rPr lang="en-US" sz="1600" dirty="0">
                <a:solidFill>
                  <a:schemeClr val="tx2"/>
                </a:solidFill>
                <a:latin typeface="Fira Sans Condensed" panose="020B0503050000020004" pitchFamily="34" charset="0"/>
              </a:rPr>
              <a:t>- Examples of </a:t>
            </a:r>
            <a:r>
              <a:rPr lang="en-US" sz="1600" u="sng" dirty="0">
                <a:solidFill>
                  <a:schemeClr val="tx2"/>
                </a:solidFill>
                <a:latin typeface="Fira Sans Condensed" panose="020B0503050000020004" pitchFamily="34" charset="0"/>
              </a:rPr>
              <a:t>acted datasets </a:t>
            </a:r>
            <a:r>
              <a:rPr lang="en-US" sz="1600" dirty="0">
                <a:solidFill>
                  <a:schemeClr val="tx2"/>
                </a:solidFill>
                <a:latin typeface="Fira Sans Condensed" panose="020B0503050000020004" pitchFamily="34" charset="0"/>
              </a:rPr>
              <a:t>include the </a:t>
            </a:r>
            <a:r>
              <a:rPr lang="en-US" sz="1600" b="1" dirty="0">
                <a:solidFill>
                  <a:schemeClr val="tx2"/>
                </a:solidFill>
                <a:latin typeface="Fira Sans Condensed" panose="020B0503050000020004" pitchFamily="34" charset="0"/>
              </a:rPr>
              <a:t>USFHD</a:t>
            </a:r>
            <a:r>
              <a:rPr lang="en-US" sz="1600" dirty="0">
                <a:solidFill>
                  <a:schemeClr val="tx2"/>
                </a:solidFill>
                <a:latin typeface="Fira Sans Condensed" panose="020B0503050000020004" pitchFamily="34" charset="0"/>
              </a:rPr>
              <a:t> and </a:t>
            </a:r>
            <a:r>
              <a:rPr lang="en-US" sz="1600" b="1" dirty="0" err="1">
                <a:solidFill>
                  <a:schemeClr val="tx2"/>
                </a:solidFill>
                <a:latin typeface="Fira Sans Condensed" panose="020B0503050000020004" pitchFamily="34" charset="0"/>
              </a:rPr>
              <a:t>Polikovsky’s</a:t>
            </a:r>
            <a:r>
              <a:rPr lang="en-US" sz="1600" dirty="0">
                <a:solidFill>
                  <a:schemeClr val="tx2"/>
                </a:solidFill>
                <a:latin typeface="Fira Sans Condensed" panose="020B0503050000020004" pitchFamily="34" charset="0"/>
              </a:rPr>
              <a:t> databases, while </a:t>
            </a:r>
            <a:r>
              <a:rPr lang="en-US" sz="1600" u="sng" dirty="0">
                <a:solidFill>
                  <a:schemeClr val="tx2"/>
                </a:solidFill>
                <a:latin typeface="Fira Sans Condensed" panose="020B0503050000020004" pitchFamily="34" charset="0"/>
              </a:rPr>
              <a:t>spontaneous datasets </a:t>
            </a:r>
            <a:r>
              <a:rPr lang="en-US" sz="1600" dirty="0">
                <a:solidFill>
                  <a:schemeClr val="tx2"/>
                </a:solidFill>
                <a:latin typeface="Fira Sans Condensed" panose="020B0503050000020004" pitchFamily="34" charset="0"/>
              </a:rPr>
              <a:t>include </a:t>
            </a:r>
            <a:r>
              <a:rPr lang="en-US" sz="1600" b="1" dirty="0">
                <a:solidFill>
                  <a:schemeClr val="tx2"/>
                </a:solidFill>
                <a:latin typeface="Fira Sans Condensed" panose="020B0503050000020004" pitchFamily="34" charset="0"/>
              </a:rPr>
              <a:t>SMIC</a:t>
            </a:r>
            <a:r>
              <a:rPr lang="en-US" sz="1600" dirty="0">
                <a:solidFill>
                  <a:schemeClr val="tx2"/>
                </a:solidFill>
                <a:latin typeface="Fira Sans Condensed" panose="020B0503050000020004" pitchFamily="34" charset="0"/>
              </a:rPr>
              <a:t>, </a:t>
            </a:r>
            <a:r>
              <a:rPr lang="en-US" sz="1600" b="1" dirty="0">
                <a:solidFill>
                  <a:schemeClr val="tx2"/>
                </a:solidFill>
                <a:latin typeface="Fira Sans Condensed" panose="020B0503050000020004" pitchFamily="34" charset="0"/>
              </a:rPr>
              <a:t>CASME</a:t>
            </a:r>
            <a:r>
              <a:rPr lang="en-US" sz="1600" dirty="0">
                <a:solidFill>
                  <a:schemeClr val="tx2"/>
                </a:solidFill>
                <a:latin typeface="Fira Sans Condensed" panose="020B0503050000020004" pitchFamily="34" charset="0"/>
              </a:rPr>
              <a:t>, and </a:t>
            </a:r>
            <a:r>
              <a:rPr lang="en-US" sz="1600" b="1" dirty="0">
                <a:solidFill>
                  <a:schemeClr val="tx2"/>
                </a:solidFill>
                <a:latin typeface="Fira Sans Condensed" panose="020B0503050000020004" pitchFamily="34" charset="0"/>
              </a:rPr>
              <a:t>CASME</a:t>
            </a:r>
            <a:r>
              <a:rPr lang="en-US" sz="1600" dirty="0">
                <a:solidFill>
                  <a:schemeClr val="tx2"/>
                </a:solidFill>
                <a:latin typeface="Fira Sans Condensed" panose="020B0503050000020004" pitchFamily="34" charset="0"/>
              </a:rPr>
              <a:t> </a:t>
            </a:r>
            <a:r>
              <a:rPr lang="en-US" sz="1600" b="1" dirty="0">
                <a:solidFill>
                  <a:schemeClr val="tx2"/>
                </a:solidFill>
                <a:latin typeface="Fira Sans Condensed" panose="020B0503050000020004" pitchFamily="34" charset="0"/>
              </a:rPr>
              <a:t>II</a:t>
            </a:r>
            <a:r>
              <a:rPr lang="en-US" sz="1600" dirty="0">
                <a:solidFill>
                  <a:schemeClr val="tx2"/>
                </a:solidFill>
                <a:latin typeface="Fira Sans Condensed" panose="020B0503050000020004" pitchFamily="34" charset="0"/>
              </a:rPr>
              <a:t>. </a:t>
            </a:r>
          </a:p>
          <a:p>
            <a:pPr marL="285750" indent="-285750">
              <a:buFontTx/>
              <a:buChar char="-"/>
            </a:pPr>
            <a:endParaRPr lang="en-US" sz="1600" dirty="0">
              <a:solidFill>
                <a:schemeClr val="tx2"/>
              </a:solidFill>
              <a:latin typeface="Fira Sans Condensed" panose="020B0503050000020004" pitchFamily="34" charset="0"/>
            </a:endParaRPr>
          </a:p>
          <a:p>
            <a:r>
              <a:rPr lang="en-US" sz="1600" dirty="0">
                <a:solidFill>
                  <a:schemeClr val="tx2"/>
                </a:solidFill>
                <a:latin typeface="Fira Sans Condensed" panose="020B0503050000020004" pitchFamily="34" charset="0"/>
              </a:rPr>
              <a:t>- This study uses </a:t>
            </a:r>
            <a:r>
              <a:rPr lang="en-US" sz="1600" b="1" dirty="0">
                <a:solidFill>
                  <a:schemeClr val="tx2"/>
                </a:solidFill>
                <a:latin typeface="Fira Sans Condensed" panose="020B0503050000020004" pitchFamily="34" charset="0"/>
              </a:rPr>
              <a:t>CASME II </a:t>
            </a:r>
            <a:r>
              <a:rPr lang="en-US" sz="1600" dirty="0">
                <a:solidFill>
                  <a:schemeClr val="tx2"/>
                </a:solidFill>
                <a:latin typeface="Fira Sans Condensed" panose="020B0503050000020004" pitchFamily="34" charset="0"/>
              </a:rPr>
              <a:t>as it is the most recent, publicly available, and widely used for research.</a:t>
            </a:r>
          </a:p>
        </p:txBody>
      </p:sp>
    </p:spTree>
    <p:extLst>
      <p:ext uri="{BB962C8B-B14F-4D97-AF65-F5344CB8AC3E}">
        <p14:creationId xmlns:p14="http://schemas.microsoft.com/office/powerpoint/2010/main" val="147846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A4C429-55D8-6257-8F15-940402844E57}"/>
              </a:ext>
            </a:extLst>
          </p:cNvPr>
          <p:cNvSpPr>
            <a:spLocks noGrp="1"/>
          </p:cNvSpPr>
          <p:nvPr>
            <p:ph type="subTitle" idx="1"/>
          </p:nvPr>
        </p:nvSpPr>
        <p:spPr>
          <a:xfrm>
            <a:off x="378290" y="227555"/>
            <a:ext cx="8024161" cy="4588179"/>
          </a:xfrm>
        </p:spPr>
        <p:txBody>
          <a:bodyPr/>
          <a:lstStyle/>
          <a:p>
            <a:r>
              <a:rPr lang="en-US" dirty="0"/>
              <a:t> </a:t>
            </a:r>
            <a:r>
              <a:rPr lang="en-US" sz="3000" b="1" dirty="0">
                <a:solidFill>
                  <a:schemeClr val="tx2"/>
                </a:solidFill>
                <a:latin typeface="Fira Sans Condensed" panose="020B0503050000020004" pitchFamily="34" charset="0"/>
              </a:rPr>
              <a:t>CASME</a:t>
            </a:r>
            <a:r>
              <a:rPr lang="en-US" sz="3000" dirty="0">
                <a:solidFill>
                  <a:schemeClr val="tx2"/>
                </a:solidFill>
                <a:latin typeface="Fira Sans Condensed" panose="020B0503050000020004" pitchFamily="34" charset="0"/>
              </a:rPr>
              <a:t> </a:t>
            </a:r>
            <a:r>
              <a:rPr lang="en-US" sz="3000" b="1" dirty="0">
                <a:solidFill>
                  <a:schemeClr val="tx2"/>
                </a:solidFill>
                <a:latin typeface="Fira Sans Condensed" panose="020B0503050000020004" pitchFamily="34" charset="0"/>
              </a:rPr>
              <a:t>II Dataset </a:t>
            </a:r>
          </a:p>
          <a:p>
            <a:endParaRPr lang="en-US" sz="1600" b="1" dirty="0">
              <a:solidFill>
                <a:schemeClr val="tx2"/>
              </a:solidFill>
              <a:latin typeface="Fira Sans Condensed" panose="020B0503050000020004" pitchFamily="34" charset="0"/>
            </a:endParaRPr>
          </a:p>
          <a:p>
            <a:r>
              <a:rPr lang="en-US" sz="1600" dirty="0"/>
              <a:t>The CASME II database is an improved version of the CASME dataset, </a:t>
            </a:r>
          </a:p>
          <a:p>
            <a:r>
              <a:rPr lang="en-US" sz="1600" dirty="0"/>
              <a:t>containing </a:t>
            </a:r>
            <a:r>
              <a:rPr lang="en-US" sz="1600" u="sng" dirty="0"/>
              <a:t>247 micro-expression samples</a:t>
            </a:r>
            <a:r>
              <a:rPr lang="en-US" sz="1600" dirty="0"/>
              <a:t> from </a:t>
            </a:r>
            <a:r>
              <a:rPr lang="en-US" sz="1600" u="sng" dirty="0"/>
              <a:t>26 participants</a:t>
            </a:r>
            <a:r>
              <a:rPr lang="en-US" sz="1600" dirty="0"/>
              <a:t>. </a:t>
            </a:r>
          </a:p>
          <a:p>
            <a:endParaRPr lang="en-US" sz="1600" dirty="0"/>
          </a:p>
          <a:p>
            <a:r>
              <a:rPr lang="en-US" sz="1600" dirty="0"/>
              <a:t>Emotional responses were recorded using a high-resolution camera as participants watched</a:t>
            </a:r>
          </a:p>
          <a:p>
            <a:r>
              <a:rPr lang="en-US" sz="1600" dirty="0"/>
              <a:t>emotional video clips and rated their intensity on a 7-point scale. </a:t>
            </a:r>
          </a:p>
          <a:p>
            <a:endParaRPr lang="en-US" sz="1600" dirty="0"/>
          </a:p>
          <a:p>
            <a:r>
              <a:rPr lang="en-US" sz="1600" dirty="0"/>
              <a:t>The recordings were </a:t>
            </a:r>
            <a:r>
              <a:rPr lang="en-US" sz="1600" b="1" u="sng" dirty="0"/>
              <a:t>divided into frames</a:t>
            </a:r>
            <a:r>
              <a:rPr lang="en-US" sz="1600" dirty="0"/>
              <a:t>, </a:t>
            </a:r>
            <a:r>
              <a:rPr lang="en-US" sz="1600" b="1" u="sng" dirty="0"/>
              <a:t>pre-processed</a:t>
            </a:r>
            <a:r>
              <a:rPr lang="en-US" sz="1600" dirty="0"/>
              <a:t> to remove irregular movements, and</a:t>
            </a:r>
          </a:p>
          <a:p>
            <a:r>
              <a:rPr lang="en-US" sz="1600" dirty="0"/>
              <a:t>selected based on durations </a:t>
            </a:r>
            <a:r>
              <a:rPr lang="en-US" sz="1600" b="1" u="sng" dirty="0"/>
              <a:t>under 500 milliseconds</a:t>
            </a:r>
            <a:r>
              <a:rPr lang="en-US" sz="1600" dirty="0"/>
              <a:t>. Samples were labeled using the Facial</a:t>
            </a:r>
          </a:p>
          <a:p>
            <a:r>
              <a:rPr lang="en-US" sz="1600" dirty="0"/>
              <a:t>Action Coding System (FACS) and categorized into five classes—disgust, happiness, surprise,</a:t>
            </a:r>
          </a:p>
          <a:p>
            <a:r>
              <a:rPr lang="en-US" sz="1600" dirty="0"/>
              <a:t>repression, and others. The CASME II database was pre-processed before release, including</a:t>
            </a:r>
          </a:p>
          <a:p>
            <a:r>
              <a:rPr lang="en-US" sz="1600" dirty="0"/>
              <a:t>face detection, video frame division, and labeling with action units. It also marks onset, apex,</a:t>
            </a:r>
          </a:p>
          <a:p>
            <a:r>
              <a:rPr lang="en-US" sz="1600" dirty="0"/>
              <a:t>and offset frames—onset being the first sign of change, apex showing peak intensity, and</a:t>
            </a:r>
          </a:p>
          <a:p>
            <a:r>
              <a:rPr lang="en-US" sz="1600" dirty="0"/>
              <a:t>offset marking the return to neutral. The database contains 247 samples recorded at 200 fps.</a:t>
            </a:r>
            <a:endParaRPr lang="en-US" sz="1200" dirty="0"/>
          </a:p>
        </p:txBody>
      </p:sp>
    </p:spTree>
    <p:extLst>
      <p:ext uri="{BB962C8B-B14F-4D97-AF65-F5344CB8AC3E}">
        <p14:creationId xmlns:p14="http://schemas.microsoft.com/office/powerpoint/2010/main" val="235243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FDDC0-156C-65D9-A5A8-BFEB5527F3D6}"/>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3F312BD8-F4AB-B6E5-92AA-525AFF71C961}"/>
              </a:ext>
            </a:extLst>
          </p:cNvPr>
          <p:cNvPicPr>
            <a:picLocks noChangeAspect="1"/>
          </p:cNvPicPr>
          <p:nvPr/>
        </p:nvPicPr>
        <p:blipFill>
          <a:blip r:embed="rId2"/>
          <a:srcRect l="-1" t="2" r="611" b="474"/>
          <a:stretch/>
        </p:blipFill>
        <p:spPr>
          <a:xfrm>
            <a:off x="523875" y="366712"/>
            <a:ext cx="8046720" cy="4389120"/>
          </a:xfrm>
          <a:prstGeom prst="rect">
            <a:avLst/>
          </a:prstGeom>
        </p:spPr>
      </p:pic>
    </p:spTree>
    <p:extLst>
      <p:ext uri="{BB962C8B-B14F-4D97-AF65-F5344CB8AC3E}">
        <p14:creationId xmlns:p14="http://schemas.microsoft.com/office/powerpoint/2010/main" val="3108174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052FC-E0BB-AB14-D4D8-72549726F5C0}"/>
              </a:ext>
            </a:extLst>
          </p:cNvPr>
          <p:cNvSpPr>
            <a:spLocks noGrp="1"/>
          </p:cNvSpPr>
          <p:nvPr>
            <p:ph type="title"/>
          </p:nvPr>
        </p:nvSpPr>
        <p:spPr/>
        <p:txBody>
          <a:bodyPr/>
          <a:lstStyle/>
          <a:p>
            <a:endParaRPr lang="en-US"/>
          </a:p>
        </p:txBody>
      </p:sp>
      <p:pic>
        <p:nvPicPr>
          <p:cNvPr id="2050" name="Picture 2" descr="Block diagram of a typical facial micro-expression recognition system |  Download Scientific Diagram">
            <a:extLst>
              <a:ext uri="{FF2B5EF4-FFF2-40B4-BE49-F238E27FC236}">
                <a16:creationId xmlns:a16="http://schemas.microsoft.com/office/drawing/2014/main" id="{DA658E01-1AAE-AD55-D3CD-5CE14B4359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75" y="257175"/>
            <a:ext cx="8096250" cy="4629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85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873E4-3600-7DBC-73A5-5205694F859B}"/>
              </a:ext>
            </a:extLst>
          </p:cNvPr>
          <p:cNvSpPr>
            <a:spLocks noGrp="1"/>
          </p:cNvSpPr>
          <p:nvPr>
            <p:ph type="title"/>
          </p:nvPr>
        </p:nvSpPr>
        <p:spPr>
          <a:xfrm>
            <a:off x="838998" y="169101"/>
            <a:ext cx="7704000" cy="3181610"/>
          </a:xfrm>
        </p:spPr>
        <p:txBody>
          <a:bodyPr/>
          <a:lstStyle/>
          <a:p>
            <a:r>
              <a:rPr lang="en-US" dirty="0">
                <a:latin typeface="Times New Roman" panose="02020603050405020304" pitchFamily="18" charset="0"/>
                <a:cs typeface="Times New Roman" panose="02020603050405020304" pitchFamily="18" charset="0"/>
              </a:rPr>
              <a:t>Machine Learning Models Used:</a:t>
            </a:r>
            <a:br>
              <a:rPr lang="en-US" dirty="0">
                <a:latin typeface="Times New Roman" panose="02020603050405020304" pitchFamily="18" charset="0"/>
                <a:cs typeface="Times New Roman" panose="02020603050405020304" pitchFamily="18" charset="0"/>
              </a:rPr>
            </a:br>
            <a:br>
              <a:rPr lang="en-US" sz="1600" dirty="0"/>
            </a:br>
            <a:r>
              <a:rPr lang="en-US" sz="1800" b="0" dirty="0">
                <a:latin typeface="Fira Sans Condensed" panose="020B0503050000020004" pitchFamily="34" charset="0"/>
              </a:rPr>
              <a:t>Extreme Learning Machine (ELM): Fast learning speed and high accuracy.</a:t>
            </a:r>
            <a:br>
              <a:rPr lang="en-US" sz="1800" b="0" dirty="0">
                <a:latin typeface="Fira Sans Condensed" panose="020B0503050000020004" pitchFamily="34" charset="0"/>
              </a:rPr>
            </a:br>
            <a:r>
              <a:rPr lang="en-US" sz="1800" b="0" dirty="0">
                <a:latin typeface="Fira Sans Condensed" panose="020B0503050000020004" pitchFamily="34" charset="0"/>
              </a:rPr>
              <a:t>Support Vector Machine (SVM): Used as a baseline model.</a:t>
            </a:r>
            <a:br>
              <a:rPr lang="en-US" sz="1800" b="0" dirty="0">
                <a:latin typeface="Fira Sans Condensed" panose="020B0503050000020004" pitchFamily="34" charset="0"/>
              </a:rPr>
            </a:br>
            <a:br>
              <a:rPr lang="en-US" sz="1600" dirty="0"/>
            </a:br>
            <a:r>
              <a:rPr lang="en-US" dirty="0">
                <a:latin typeface="Times New Roman" panose="02020603050405020304" pitchFamily="18" charset="0"/>
                <a:cs typeface="Times New Roman" panose="02020603050405020304" pitchFamily="18" charset="0"/>
              </a:rPr>
              <a:t>Feature Extraction Methods:</a:t>
            </a:r>
            <a:br>
              <a:rPr lang="en-US" dirty="0">
                <a:latin typeface="Times New Roman" panose="02020603050405020304" pitchFamily="18" charset="0"/>
                <a:cs typeface="Times New Roman" panose="02020603050405020304" pitchFamily="18" charset="0"/>
              </a:rPr>
            </a:br>
            <a:br>
              <a:rPr lang="en-US" sz="1600" dirty="0"/>
            </a:br>
            <a:r>
              <a:rPr lang="en-US" sz="1800" b="0" dirty="0">
                <a:latin typeface="Fira Sans Condensed" panose="020B0503050000020004" pitchFamily="34" charset="0"/>
              </a:rPr>
              <a:t>LBP (Local Binary Pattern) – Apex frames.</a:t>
            </a:r>
            <a:br>
              <a:rPr lang="en-US" sz="1800" b="0" dirty="0">
                <a:latin typeface="Fira Sans Condensed" panose="020B0503050000020004" pitchFamily="34" charset="0"/>
              </a:rPr>
            </a:br>
            <a:r>
              <a:rPr lang="en-US" sz="1800" b="0" dirty="0">
                <a:latin typeface="Fira Sans Condensed" panose="020B0503050000020004" pitchFamily="34" charset="0"/>
              </a:rPr>
              <a:t>LBP-TOP (Three Orthogonal Planes) – Spatiotemporal features.</a:t>
            </a:r>
            <a:br>
              <a:rPr lang="en-US" sz="1800" b="0" dirty="0">
                <a:latin typeface="Fira Sans Condensed" panose="020B0503050000020004" pitchFamily="34" charset="0"/>
              </a:rPr>
            </a:br>
            <a:br>
              <a:rPr lang="en-US" sz="1800" b="0" dirty="0">
                <a:latin typeface="Fira Sans Condensed" panose="020B0503050000020004" pitchFamily="34" charset="0"/>
              </a:rPr>
            </a:br>
            <a:endParaRPr lang="en-US" sz="1600" b="0" dirty="0">
              <a:latin typeface="Fira Sans Condensed" panose="020B0503050000020004" pitchFamily="34" charset="0"/>
            </a:endParaRPr>
          </a:p>
        </p:txBody>
      </p:sp>
      <p:sp>
        <p:nvSpPr>
          <p:cNvPr id="4" name="TextBox 3">
            <a:extLst>
              <a:ext uri="{FF2B5EF4-FFF2-40B4-BE49-F238E27FC236}">
                <a16:creationId xmlns:a16="http://schemas.microsoft.com/office/drawing/2014/main" id="{6B2CB61A-C13B-8EF4-D4A5-63B7E1366879}"/>
              </a:ext>
            </a:extLst>
          </p:cNvPr>
          <p:cNvSpPr txBox="1"/>
          <p:nvPr/>
        </p:nvSpPr>
        <p:spPr>
          <a:xfrm>
            <a:off x="1177447" y="3409037"/>
            <a:ext cx="7847556" cy="1477328"/>
          </a:xfrm>
          <a:prstGeom prst="rect">
            <a:avLst/>
          </a:prstGeom>
          <a:noFill/>
        </p:spPr>
        <p:txBody>
          <a:bodyPr wrap="square">
            <a:spAutoFit/>
          </a:bodyPr>
          <a:lstStyle/>
          <a:p>
            <a:r>
              <a:rPr kumimoji="0" lang="en-US" sz="1800" b="0" i="0" u="sng" strike="noStrike" kern="0" cap="none" spc="0" normalizeH="0" baseline="0" noProof="0" dirty="0">
                <a:ln>
                  <a:noFill/>
                </a:ln>
                <a:solidFill>
                  <a:srgbClr val="F3F3F3"/>
                </a:solidFill>
                <a:effectLst/>
                <a:uLnTx/>
                <a:uFillTx/>
                <a:latin typeface="Fira Sans Condensed" panose="020B0503050000020004" pitchFamily="34" charset="0"/>
                <a:cs typeface="Rajdhani" panose="02000000000000000000"/>
                <a:sym typeface="Rajdhani" panose="02000000000000000000"/>
              </a:rPr>
              <a:t>Performance Comparison:</a:t>
            </a:r>
            <a:br>
              <a:rPr kumimoji="0" lang="en-US" sz="1800" b="0" i="0" u="none" strike="noStrike" kern="0" cap="none" spc="0" normalizeH="0" baseline="0" noProof="0" dirty="0">
                <a:ln>
                  <a:noFill/>
                </a:ln>
                <a:solidFill>
                  <a:srgbClr val="F3F3F3"/>
                </a:solidFill>
                <a:effectLst/>
                <a:uLnTx/>
                <a:uFillTx/>
                <a:latin typeface="Fira Sans Condensed" panose="020B0503050000020004" pitchFamily="34" charset="0"/>
                <a:cs typeface="Rajdhani" panose="02000000000000000000"/>
                <a:sym typeface="Rajdhani" panose="02000000000000000000"/>
              </a:rPr>
            </a:br>
            <a:r>
              <a:rPr kumimoji="0" lang="en-US" sz="1800" b="0" i="0" u="none" strike="noStrike" kern="0" cap="none" spc="0" normalizeH="0" baseline="0" noProof="0" dirty="0">
                <a:ln>
                  <a:noFill/>
                </a:ln>
                <a:solidFill>
                  <a:srgbClr val="F3F3F3"/>
                </a:solidFill>
                <a:effectLst/>
                <a:uLnTx/>
                <a:uFillTx/>
                <a:latin typeface="Fira Sans Condensed" panose="020B0503050000020004" pitchFamily="34" charset="0"/>
                <a:cs typeface="Rajdhani" panose="02000000000000000000"/>
                <a:sym typeface="Rajdhani" panose="02000000000000000000"/>
              </a:rPr>
              <a:t>ELM vs. SVM (accuracy, precision, recall, F-score).</a:t>
            </a:r>
            <a:br>
              <a:rPr kumimoji="0" lang="en-US" sz="1800" b="0" i="0" u="none" strike="noStrike" kern="0" cap="none" spc="0" normalizeH="0" baseline="0" noProof="0" dirty="0">
                <a:ln>
                  <a:noFill/>
                </a:ln>
                <a:solidFill>
                  <a:srgbClr val="F3F3F3"/>
                </a:solidFill>
                <a:effectLst/>
                <a:uLnTx/>
                <a:uFillTx/>
                <a:latin typeface="Fira Sans Condensed" panose="020B0503050000020004" pitchFamily="34" charset="0"/>
                <a:cs typeface="Rajdhani" panose="02000000000000000000"/>
                <a:sym typeface="Rajdhani" panose="02000000000000000000"/>
              </a:rPr>
            </a:br>
            <a:r>
              <a:rPr kumimoji="0" lang="en-US" sz="1800" b="0" i="0" u="none" strike="noStrike" kern="0" cap="none" spc="0" normalizeH="0" baseline="0" noProof="0" dirty="0">
                <a:ln>
                  <a:noFill/>
                </a:ln>
                <a:solidFill>
                  <a:srgbClr val="F3F3F3"/>
                </a:solidFill>
                <a:effectLst/>
                <a:uLnTx/>
                <a:uFillTx/>
                <a:latin typeface="Fira Sans Condensed" panose="020B0503050000020004" pitchFamily="34" charset="0"/>
                <a:cs typeface="Rajdhani" panose="02000000000000000000"/>
                <a:sym typeface="Rajdhani" panose="02000000000000000000"/>
              </a:rPr>
              <a:t>Training time: ELM (0.0409s) vs. SVM (0.3405s).</a:t>
            </a:r>
            <a:br>
              <a:rPr kumimoji="0" lang="en-US" sz="1800" b="0" i="0" u="none" strike="noStrike" kern="0" cap="none" spc="0" normalizeH="0" baseline="0" noProof="0" dirty="0">
                <a:ln>
                  <a:noFill/>
                </a:ln>
                <a:solidFill>
                  <a:srgbClr val="F3F3F3"/>
                </a:solidFill>
                <a:effectLst/>
                <a:uLnTx/>
                <a:uFillTx/>
                <a:latin typeface="Fira Sans Condensed" panose="020B0503050000020004" pitchFamily="34" charset="0"/>
                <a:cs typeface="Rajdhani" panose="02000000000000000000"/>
                <a:sym typeface="Rajdhani" panose="02000000000000000000"/>
              </a:rPr>
            </a:br>
            <a:br>
              <a:rPr kumimoji="0" lang="en-US" sz="1800" b="0" i="0" u="none" strike="noStrike" kern="0" cap="none" spc="0" normalizeH="0" baseline="0" noProof="0" dirty="0">
                <a:ln>
                  <a:noFill/>
                </a:ln>
                <a:solidFill>
                  <a:srgbClr val="F3F3F3"/>
                </a:solidFill>
                <a:effectLst/>
                <a:uLnTx/>
                <a:uFillTx/>
                <a:latin typeface="Fira Sans Condensed" panose="020B0503050000020004" pitchFamily="34" charset="0"/>
                <a:cs typeface="Rajdhani" panose="02000000000000000000"/>
                <a:sym typeface="Rajdhani" panose="02000000000000000000"/>
              </a:rPr>
            </a:br>
            <a:r>
              <a:rPr kumimoji="0" lang="en-US" sz="1800" b="0" i="0" u="none" strike="noStrike" kern="0" cap="none" spc="0" normalizeH="0" baseline="0" noProof="0" dirty="0">
                <a:ln>
                  <a:noFill/>
                </a:ln>
                <a:solidFill>
                  <a:srgbClr val="F3F3F3"/>
                </a:solidFill>
                <a:effectLst/>
                <a:uLnTx/>
                <a:uFillTx/>
                <a:latin typeface="Fira Sans Condensed" panose="020B0503050000020004" pitchFamily="34" charset="0"/>
                <a:cs typeface="Rajdhani" panose="02000000000000000000"/>
                <a:sym typeface="Rajdhani" panose="02000000000000000000"/>
              </a:rPr>
              <a:t>Outcome: ELM performs better in recognizing micro-expressions and is faster.</a:t>
            </a:r>
            <a:endParaRPr lang="en-US" sz="1600" dirty="0"/>
          </a:p>
        </p:txBody>
      </p:sp>
    </p:spTree>
    <p:extLst>
      <p:ext uri="{BB962C8B-B14F-4D97-AF65-F5344CB8AC3E}">
        <p14:creationId xmlns:p14="http://schemas.microsoft.com/office/powerpoint/2010/main" val="3288589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C10329-081B-3335-D772-E7FA8F983ED9}"/>
              </a:ext>
            </a:extLst>
          </p:cNvPr>
          <p:cNvPicPr>
            <a:picLocks noChangeAspect="1"/>
          </p:cNvPicPr>
          <p:nvPr/>
        </p:nvPicPr>
        <p:blipFill>
          <a:blip r:embed="rId2"/>
          <a:stretch>
            <a:fillRect/>
          </a:stretch>
        </p:blipFill>
        <p:spPr>
          <a:xfrm>
            <a:off x="1001932" y="197285"/>
            <a:ext cx="7140136" cy="4748930"/>
          </a:xfrm>
          <a:prstGeom prst="rect">
            <a:avLst/>
          </a:prstGeom>
        </p:spPr>
      </p:pic>
    </p:spTree>
    <p:extLst>
      <p:ext uri="{BB962C8B-B14F-4D97-AF65-F5344CB8AC3E}">
        <p14:creationId xmlns:p14="http://schemas.microsoft.com/office/powerpoint/2010/main" val="1171652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34"/>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sz="3200" dirty="0">
                <a:latin typeface="Times New Roman" panose="02020603050405020304" charset="0"/>
                <a:cs typeface="Times New Roman" panose="02020603050405020304" charset="0"/>
              </a:rPr>
              <a:t>Challenges</a:t>
            </a:r>
            <a:r>
              <a:rPr lang="ar-SA" altLang="en-US" sz="3200" dirty="0">
                <a:latin typeface="Times New Roman" panose="02020603050405020304" charset="0"/>
                <a:cs typeface="Times New Roman" panose="02020603050405020304" charset="0"/>
              </a:rPr>
              <a:t> </a:t>
            </a:r>
            <a:r>
              <a:rPr lang="en-US" altLang="en-US" sz="3200" dirty="0">
                <a:latin typeface="Times New Roman" panose="02020603050405020304" charset="0"/>
                <a:cs typeface="Times New Roman" panose="02020603050405020304" charset="0"/>
                <a:sym typeface="+mn-ea"/>
              </a:rPr>
              <a:t>Of Facial Micro-Expressions</a:t>
            </a:r>
            <a:r>
              <a:rPr lang="en-US" altLang="en-US" sz="3200" dirty="0">
                <a:latin typeface="Times New Roman" panose="02020603050405020304" charset="0"/>
                <a:cs typeface="Times New Roman" panose="02020603050405020304" charset="0"/>
              </a:rPr>
              <a:t> </a:t>
            </a:r>
          </a:p>
        </p:txBody>
      </p:sp>
      <p:sp>
        <p:nvSpPr>
          <p:cNvPr id="964" name="Google Shape;964;p34"/>
          <p:cNvSpPr txBox="1"/>
          <p:nvPr/>
        </p:nvSpPr>
        <p:spPr>
          <a:xfrm>
            <a:off x="3402450" y="2594817"/>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971" name="Google Shape;971;p34"/>
          <p:cNvGrpSpPr/>
          <p:nvPr/>
        </p:nvGrpSpPr>
        <p:grpSpPr>
          <a:xfrm>
            <a:off x="290326" y="1899117"/>
            <a:ext cx="3560445" cy="1273810"/>
            <a:chOff x="207296" y="1875419"/>
            <a:chExt cx="3627555" cy="1273810"/>
          </a:xfrm>
        </p:grpSpPr>
        <p:sp>
          <p:nvSpPr>
            <p:cNvPr id="972" name="Google Shape;972;p34"/>
            <p:cNvSpPr txBox="1"/>
            <p:nvPr/>
          </p:nvSpPr>
          <p:spPr>
            <a:xfrm flipH="1">
              <a:off x="348335" y="1875419"/>
              <a:ext cx="2913301"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2000" b="1" dirty="0">
                  <a:solidFill>
                    <a:schemeClr val="lt2"/>
                  </a:solidFill>
                  <a:latin typeface="+mn-lt"/>
                  <a:ea typeface="Rajdhani" panose="02000000000000000000"/>
                  <a:cs typeface="Rajdhani" panose="02000000000000000000"/>
                  <a:sym typeface="Rajdhani" panose="02000000000000000000"/>
                </a:rPr>
                <a:t>Detection Difficulty</a:t>
              </a:r>
            </a:p>
          </p:txBody>
        </p:sp>
        <p:sp>
          <p:nvSpPr>
            <p:cNvPr id="973" name="Google Shape;973;p34"/>
            <p:cNvSpPr txBox="1"/>
            <p:nvPr/>
          </p:nvSpPr>
          <p:spPr>
            <a:xfrm flipH="1">
              <a:off x="207296" y="2257689"/>
              <a:ext cx="3627555" cy="89154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They are quick and subtle, making them hard to detect and analyze even with advanced technology.</a:t>
              </a:r>
              <a:endParaRPr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grpSp>
        <p:nvGrpSpPr>
          <p:cNvPr id="974" name="Google Shape;974;p34"/>
          <p:cNvGrpSpPr/>
          <p:nvPr/>
        </p:nvGrpSpPr>
        <p:grpSpPr>
          <a:xfrm>
            <a:off x="71250" y="3294717"/>
            <a:ext cx="4419600" cy="1430020"/>
            <a:chOff x="-15909" y="3745144"/>
            <a:chExt cx="4502904" cy="1430020"/>
          </a:xfrm>
        </p:grpSpPr>
        <p:sp>
          <p:nvSpPr>
            <p:cNvPr id="975" name="Google Shape;975;p34"/>
            <p:cNvSpPr txBox="1"/>
            <p:nvPr/>
          </p:nvSpPr>
          <p:spPr>
            <a:xfrm flipH="1">
              <a:off x="-15909" y="3745144"/>
              <a:ext cx="3634672"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2000" b="1" dirty="0">
                  <a:solidFill>
                    <a:schemeClr val="lt2"/>
                  </a:solidFill>
                  <a:latin typeface="+mn-lt"/>
                  <a:ea typeface="Rajdhani" panose="02000000000000000000"/>
                  <a:cs typeface="Rajdhani" panose="02000000000000000000"/>
                  <a:sym typeface="Rajdhani" panose="02000000000000000000"/>
                </a:rPr>
                <a:t>Environmental Factors</a:t>
              </a:r>
            </a:p>
          </p:txBody>
        </p:sp>
        <p:sp>
          <p:nvSpPr>
            <p:cNvPr id="976" name="Google Shape;976;p34"/>
            <p:cNvSpPr txBox="1"/>
            <p:nvPr/>
          </p:nvSpPr>
          <p:spPr>
            <a:xfrm flipH="1">
              <a:off x="207295" y="4089314"/>
              <a:ext cx="4279700" cy="108585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 External conditions such as poor lighting, incorrect camera angles, or facial obstructions can affect the ability to detect micro-expressions accurately.</a:t>
              </a:r>
            </a:p>
          </p:txBody>
        </p:sp>
      </p:grpSp>
      <p:grpSp>
        <p:nvGrpSpPr>
          <p:cNvPr id="977" name="Google Shape;977;p34"/>
          <p:cNvGrpSpPr/>
          <p:nvPr/>
        </p:nvGrpSpPr>
        <p:grpSpPr>
          <a:xfrm>
            <a:off x="5970876" y="1899117"/>
            <a:ext cx="2896235" cy="1152525"/>
            <a:chOff x="5994918" y="1875419"/>
            <a:chExt cx="2950825" cy="1152525"/>
          </a:xfrm>
        </p:grpSpPr>
        <p:sp>
          <p:nvSpPr>
            <p:cNvPr id="978" name="Google Shape;978;p34"/>
            <p:cNvSpPr txBox="1"/>
            <p:nvPr/>
          </p:nvSpPr>
          <p:spPr>
            <a:xfrm flipH="1">
              <a:off x="5994918" y="1875419"/>
              <a:ext cx="2849898"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2000" b="1" dirty="0">
                  <a:solidFill>
                    <a:schemeClr val="lt2"/>
                  </a:solidFill>
                  <a:latin typeface="+mn-lt"/>
                  <a:ea typeface="Rajdhani" panose="02000000000000000000"/>
                  <a:cs typeface="Rajdhani" panose="02000000000000000000"/>
                  <a:sym typeface="Rajdhani" panose="02000000000000000000"/>
                </a:rPr>
                <a:t>Cultural Differences</a:t>
              </a:r>
            </a:p>
          </p:txBody>
        </p:sp>
        <p:sp>
          <p:nvSpPr>
            <p:cNvPr id="979" name="Google Shape;979;p34"/>
            <p:cNvSpPr txBox="1"/>
            <p:nvPr/>
          </p:nvSpPr>
          <p:spPr>
            <a:xfrm flipH="1">
              <a:off x="6110725" y="2135769"/>
              <a:ext cx="2835018" cy="89217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People from different cultures may express the same emotions using different facial expressions or interpret certain expressions in various ways.</a:t>
              </a:r>
              <a:endParaRPr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endParaRPr>
            </a:p>
          </p:txBody>
        </p:sp>
      </p:grpSp>
      <p:cxnSp>
        <p:nvCxnSpPr>
          <p:cNvPr id="983" name="Google Shape;983;p34"/>
          <p:cNvCxnSpPr/>
          <p:nvPr/>
        </p:nvCxnSpPr>
        <p:spPr>
          <a:xfrm>
            <a:off x="3638550" y="2127885"/>
            <a:ext cx="342900" cy="695325"/>
          </a:xfrm>
          <a:prstGeom prst="bentConnector3">
            <a:avLst>
              <a:gd name="adj1" fmla="val 50000"/>
            </a:avLst>
          </a:prstGeom>
          <a:noFill/>
          <a:ln w="19050" cap="flat" cmpd="sng">
            <a:solidFill>
              <a:schemeClr val="lt2"/>
            </a:solidFill>
            <a:prstDash val="solid"/>
            <a:round/>
            <a:headEnd type="oval" w="med" len="med"/>
            <a:tailEnd type="oval" w="med" len="med"/>
          </a:ln>
        </p:spPr>
      </p:cxnSp>
      <p:cxnSp>
        <p:nvCxnSpPr>
          <p:cNvPr id="984" name="Google Shape;984;p34"/>
          <p:cNvCxnSpPr/>
          <p:nvPr/>
        </p:nvCxnSpPr>
        <p:spPr>
          <a:xfrm rot="10800000" flipV="1">
            <a:off x="3752910" y="2823210"/>
            <a:ext cx="228600" cy="700405"/>
          </a:xfrm>
          <a:prstGeom prst="bentConnector3">
            <a:avLst>
              <a:gd name="adj1" fmla="val 50000"/>
            </a:avLst>
          </a:prstGeom>
          <a:noFill/>
          <a:ln w="19050" cap="flat" cmpd="sng">
            <a:solidFill>
              <a:schemeClr val="lt2"/>
            </a:solidFill>
            <a:prstDash val="solid"/>
            <a:round/>
            <a:headEnd type="oval" w="med" len="med"/>
            <a:tailEnd type="oval" w="med" len="med"/>
          </a:ln>
        </p:spPr>
      </p:cxnSp>
      <p:cxnSp>
        <p:nvCxnSpPr>
          <p:cNvPr id="985" name="Google Shape;985;p34"/>
          <p:cNvCxnSpPr>
            <a:stCxn id="964" idx="3"/>
            <a:endCxn id="978" idx="3"/>
          </p:cNvCxnSpPr>
          <p:nvPr/>
        </p:nvCxnSpPr>
        <p:spPr>
          <a:xfrm flipV="1">
            <a:off x="5741670" y="2127885"/>
            <a:ext cx="229235" cy="695325"/>
          </a:xfrm>
          <a:prstGeom prst="bentConnector3">
            <a:avLst>
              <a:gd name="adj1" fmla="val 50139"/>
            </a:avLst>
          </a:prstGeom>
          <a:noFill/>
          <a:ln w="19050" cap="flat" cmpd="sng">
            <a:solidFill>
              <a:schemeClr val="lt2"/>
            </a:solidFill>
            <a:prstDash val="solid"/>
            <a:round/>
            <a:headEnd type="oval" w="med" len="med"/>
            <a:tailEnd type="oval" w="med" len="med"/>
          </a:ln>
        </p:spPr>
      </p:cxnSp>
      <p:cxnSp>
        <p:nvCxnSpPr>
          <p:cNvPr id="986" name="Google Shape;986;p34"/>
          <p:cNvCxnSpPr/>
          <p:nvPr/>
        </p:nvCxnSpPr>
        <p:spPr>
          <a:xfrm>
            <a:off x="3398202" y="2824515"/>
            <a:ext cx="2347595" cy="3175"/>
          </a:xfrm>
          <a:prstGeom prst="bentConnector3">
            <a:avLst>
              <a:gd name="adj1" fmla="val 50014"/>
            </a:avLst>
          </a:prstGeom>
          <a:noFill/>
          <a:ln w="19050" cap="flat" cmpd="sng">
            <a:solidFill>
              <a:schemeClr val="lt2"/>
            </a:solidFill>
            <a:prstDash val="solid"/>
            <a:round/>
            <a:headEnd type="oval" w="med" len="med"/>
            <a:tailEnd type="oval"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a:spLocks noGrp="1"/>
          </p:cNvSpPr>
          <p:nvPr>
            <p:ph type="title"/>
          </p:nvPr>
        </p:nvSpPr>
        <p:spPr>
          <a:xfrm>
            <a:off x="720090" y="205105"/>
            <a:ext cx="7703820" cy="90741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latin typeface="Times New Roman" panose="02020603050405020304" charset="0"/>
                <a:cs typeface="Times New Roman" panose="02020603050405020304" charset="0"/>
              </a:rPr>
              <a:t>Limitations Of Facial Micro-Expressions</a:t>
            </a:r>
          </a:p>
        </p:txBody>
      </p:sp>
      <p:grpSp>
        <p:nvGrpSpPr>
          <p:cNvPr id="155" name="Google Shape;155;p20"/>
          <p:cNvGrpSpPr/>
          <p:nvPr/>
        </p:nvGrpSpPr>
        <p:grpSpPr>
          <a:xfrm rot="-5400000">
            <a:off x="1130148" y="2724057"/>
            <a:ext cx="362321" cy="364231"/>
            <a:chOff x="6069423" y="2891892"/>
            <a:chExt cx="362321" cy="364231"/>
          </a:xfrm>
        </p:grpSpPr>
        <p:sp>
          <p:nvSpPr>
            <p:cNvPr id="156" name="Google Shape;156;p20"/>
            <p:cNvSpPr/>
            <p:nvPr/>
          </p:nvSpPr>
          <p:spPr>
            <a:xfrm>
              <a:off x="6069423" y="2891892"/>
              <a:ext cx="278958" cy="278958"/>
            </a:xfrm>
            <a:custGeom>
              <a:avLst/>
              <a:gdLst/>
              <a:ahLst/>
              <a:cxnLst/>
              <a:rect l="l" t="t" r="r" b="b"/>
              <a:pathLst>
                <a:path w="8764" h="8764" extrusionOk="0">
                  <a:moveTo>
                    <a:pt x="4120" y="1"/>
                  </a:moveTo>
                  <a:cubicBezTo>
                    <a:pt x="3858" y="1"/>
                    <a:pt x="3632" y="203"/>
                    <a:pt x="3572" y="453"/>
                  </a:cubicBezTo>
                  <a:lnTo>
                    <a:pt x="3406" y="1299"/>
                  </a:lnTo>
                  <a:cubicBezTo>
                    <a:pt x="3227" y="1358"/>
                    <a:pt x="3060" y="1418"/>
                    <a:pt x="2906" y="1513"/>
                  </a:cubicBezTo>
                  <a:lnTo>
                    <a:pt x="2191" y="1037"/>
                  </a:lnTo>
                  <a:cubicBezTo>
                    <a:pt x="2096" y="971"/>
                    <a:pt x="1987" y="940"/>
                    <a:pt x="1879" y="940"/>
                  </a:cubicBezTo>
                  <a:cubicBezTo>
                    <a:pt x="1732" y="940"/>
                    <a:pt x="1587" y="998"/>
                    <a:pt x="1477" y="1108"/>
                  </a:cubicBezTo>
                  <a:lnTo>
                    <a:pt x="1096" y="1477"/>
                  </a:lnTo>
                  <a:cubicBezTo>
                    <a:pt x="905" y="1668"/>
                    <a:pt x="882" y="1965"/>
                    <a:pt x="1024" y="2191"/>
                  </a:cubicBezTo>
                  <a:lnTo>
                    <a:pt x="1501" y="2906"/>
                  </a:lnTo>
                  <a:cubicBezTo>
                    <a:pt x="1417" y="3073"/>
                    <a:pt x="1358" y="3239"/>
                    <a:pt x="1298" y="3406"/>
                  </a:cubicBezTo>
                  <a:lnTo>
                    <a:pt x="441" y="3573"/>
                  </a:lnTo>
                  <a:cubicBezTo>
                    <a:pt x="179" y="3632"/>
                    <a:pt x="0" y="3858"/>
                    <a:pt x="0" y="4132"/>
                  </a:cubicBezTo>
                  <a:lnTo>
                    <a:pt x="0" y="4644"/>
                  </a:lnTo>
                  <a:cubicBezTo>
                    <a:pt x="0" y="4918"/>
                    <a:pt x="191" y="5132"/>
                    <a:pt x="441" y="5204"/>
                  </a:cubicBezTo>
                  <a:lnTo>
                    <a:pt x="1298" y="5359"/>
                  </a:lnTo>
                  <a:cubicBezTo>
                    <a:pt x="1358" y="5537"/>
                    <a:pt x="1417" y="5704"/>
                    <a:pt x="1501" y="5871"/>
                  </a:cubicBezTo>
                  <a:lnTo>
                    <a:pt x="1024" y="6585"/>
                  </a:lnTo>
                  <a:cubicBezTo>
                    <a:pt x="882" y="6811"/>
                    <a:pt x="905" y="7109"/>
                    <a:pt x="1096" y="7299"/>
                  </a:cubicBezTo>
                  <a:lnTo>
                    <a:pt x="1477" y="7668"/>
                  </a:lnTo>
                  <a:cubicBezTo>
                    <a:pt x="1587" y="7778"/>
                    <a:pt x="1732" y="7837"/>
                    <a:pt x="1879" y="7837"/>
                  </a:cubicBezTo>
                  <a:cubicBezTo>
                    <a:pt x="1987" y="7837"/>
                    <a:pt x="2096" y="7805"/>
                    <a:pt x="2191" y="7740"/>
                  </a:cubicBezTo>
                  <a:lnTo>
                    <a:pt x="2906" y="7264"/>
                  </a:lnTo>
                  <a:cubicBezTo>
                    <a:pt x="3060" y="7359"/>
                    <a:pt x="3227" y="7418"/>
                    <a:pt x="3406" y="7478"/>
                  </a:cubicBezTo>
                  <a:lnTo>
                    <a:pt x="3572" y="8323"/>
                  </a:lnTo>
                  <a:cubicBezTo>
                    <a:pt x="3632" y="8585"/>
                    <a:pt x="3858" y="8764"/>
                    <a:pt x="4120" y="8764"/>
                  </a:cubicBezTo>
                  <a:lnTo>
                    <a:pt x="4644" y="8764"/>
                  </a:lnTo>
                  <a:cubicBezTo>
                    <a:pt x="4906" y="8764"/>
                    <a:pt x="5132" y="8573"/>
                    <a:pt x="5192" y="8323"/>
                  </a:cubicBezTo>
                  <a:lnTo>
                    <a:pt x="5358" y="7478"/>
                  </a:lnTo>
                  <a:cubicBezTo>
                    <a:pt x="5489" y="7430"/>
                    <a:pt x="5620" y="7371"/>
                    <a:pt x="5763" y="7311"/>
                  </a:cubicBezTo>
                  <a:cubicBezTo>
                    <a:pt x="5846" y="7299"/>
                    <a:pt x="5894" y="7192"/>
                    <a:pt x="5846" y="7109"/>
                  </a:cubicBezTo>
                  <a:cubicBezTo>
                    <a:pt x="5812" y="7039"/>
                    <a:pt x="5751" y="6995"/>
                    <a:pt x="5684" y="6995"/>
                  </a:cubicBezTo>
                  <a:cubicBezTo>
                    <a:pt x="5659" y="6995"/>
                    <a:pt x="5634" y="7001"/>
                    <a:pt x="5608" y="7014"/>
                  </a:cubicBezTo>
                  <a:cubicBezTo>
                    <a:pt x="5465" y="7085"/>
                    <a:pt x="5311" y="7144"/>
                    <a:pt x="5144" y="7180"/>
                  </a:cubicBezTo>
                  <a:cubicBezTo>
                    <a:pt x="5084" y="7192"/>
                    <a:pt x="5025" y="7252"/>
                    <a:pt x="5013" y="7311"/>
                  </a:cubicBezTo>
                  <a:lnTo>
                    <a:pt x="4823" y="8264"/>
                  </a:lnTo>
                  <a:cubicBezTo>
                    <a:pt x="4811" y="8347"/>
                    <a:pt x="4715" y="8430"/>
                    <a:pt x="4632" y="8430"/>
                  </a:cubicBezTo>
                  <a:lnTo>
                    <a:pt x="4108" y="8430"/>
                  </a:lnTo>
                  <a:cubicBezTo>
                    <a:pt x="4013" y="8430"/>
                    <a:pt x="3930" y="8347"/>
                    <a:pt x="3918" y="8264"/>
                  </a:cubicBezTo>
                  <a:lnTo>
                    <a:pt x="3715" y="7311"/>
                  </a:lnTo>
                  <a:cubicBezTo>
                    <a:pt x="3703" y="7252"/>
                    <a:pt x="3656" y="7192"/>
                    <a:pt x="3584" y="7180"/>
                  </a:cubicBezTo>
                  <a:cubicBezTo>
                    <a:pt x="3358" y="7121"/>
                    <a:pt x="3156" y="7025"/>
                    <a:pt x="2965" y="6906"/>
                  </a:cubicBezTo>
                  <a:cubicBezTo>
                    <a:pt x="2935" y="6894"/>
                    <a:pt x="2900" y="6888"/>
                    <a:pt x="2864" y="6888"/>
                  </a:cubicBezTo>
                  <a:cubicBezTo>
                    <a:pt x="2828" y="6888"/>
                    <a:pt x="2792" y="6894"/>
                    <a:pt x="2763" y="6906"/>
                  </a:cubicBezTo>
                  <a:lnTo>
                    <a:pt x="1965" y="7442"/>
                  </a:lnTo>
                  <a:cubicBezTo>
                    <a:pt x="1934" y="7468"/>
                    <a:pt x="1894" y="7480"/>
                    <a:pt x="1854" y="7480"/>
                  </a:cubicBezTo>
                  <a:cubicBezTo>
                    <a:pt x="1802" y="7480"/>
                    <a:pt x="1749" y="7459"/>
                    <a:pt x="1715" y="7418"/>
                  </a:cubicBezTo>
                  <a:lnTo>
                    <a:pt x="1334" y="7049"/>
                  </a:lnTo>
                  <a:cubicBezTo>
                    <a:pt x="1263" y="6966"/>
                    <a:pt x="1263" y="6859"/>
                    <a:pt x="1310" y="6787"/>
                  </a:cubicBezTo>
                  <a:lnTo>
                    <a:pt x="1846" y="5990"/>
                  </a:lnTo>
                  <a:cubicBezTo>
                    <a:pt x="1882" y="5930"/>
                    <a:pt x="1882" y="5859"/>
                    <a:pt x="1846" y="5799"/>
                  </a:cubicBezTo>
                  <a:cubicBezTo>
                    <a:pt x="1727" y="5597"/>
                    <a:pt x="1655" y="5382"/>
                    <a:pt x="1572" y="5168"/>
                  </a:cubicBezTo>
                  <a:cubicBezTo>
                    <a:pt x="1560" y="5109"/>
                    <a:pt x="1501" y="5049"/>
                    <a:pt x="1441" y="5037"/>
                  </a:cubicBezTo>
                  <a:lnTo>
                    <a:pt x="489" y="4847"/>
                  </a:lnTo>
                  <a:cubicBezTo>
                    <a:pt x="393" y="4823"/>
                    <a:pt x="322" y="4739"/>
                    <a:pt x="322" y="4644"/>
                  </a:cubicBezTo>
                  <a:lnTo>
                    <a:pt x="322" y="4132"/>
                  </a:lnTo>
                  <a:cubicBezTo>
                    <a:pt x="322" y="4037"/>
                    <a:pt x="393" y="3954"/>
                    <a:pt x="489" y="3930"/>
                  </a:cubicBezTo>
                  <a:lnTo>
                    <a:pt x="1441" y="3739"/>
                  </a:lnTo>
                  <a:cubicBezTo>
                    <a:pt x="1501" y="3727"/>
                    <a:pt x="1560" y="3680"/>
                    <a:pt x="1572" y="3608"/>
                  </a:cubicBezTo>
                  <a:cubicBezTo>
                    <a:pt x="1632" y="3382"/>
                    <a:pt x="1727" y="3180"/>
                    <a:pt x="1846" y="2977"/>
                  </a:cubicBezTo>
                  <a:cubicBezTo>
                    <a:pt x="1870" y="2918"/>
                    <a:pt x="1870" y="2846"/>
                    <a:pt x="1846" y="2787"/>
                  </a:cubicBezTo>
                  <a:lnTo>
                    <a:pt x="1310" y="1989"/>
                  </a:lnTo>
                  <a:cubicBezTo>
                    <a:pt x="1251" y="1906"/>
                    <a:pt x="1263" y="1787"/>
                    <a:pt x="1334" y="1727"/>
                  </a:cubicBezTo>
                  <a:lnTo>
                    <a:pt x="1715" y="1358"/>
                  </a:lnTo>
                  <a:cubicBezTo>
                    <a:pt x="1754" y="1319"/>
                    <a:pt x="1804" y="1301"/>
                    <a:pt x="1854" y="1301"/>
                  </a:cubicBezTo>
                  <a:cubicBezTo>
                    <a:pt x="1894" y="1301"/>
                    <a:pt x="1933" y="1313"/>
                    <a:pt x="1965" y="1334"/>
                  </a:cubicBezTo>
                  <a:lnTo>
                    <a:pt x="2763" y="1870"/>
                  </a:lnTo>
                  <a:cubicBezTo>
                    <a:pt x="2792" y="1888"/>
                    <a:pt x="2828" y="1897"/>
                    <a:pt x="2864" y="1897"/>
                  </a:cubicBezTo>
                  <a:cubicBezTo>
                    <a:pt x="2900" y="1897"/>
                    <a:pt x="2935" y="1888"/>
                    <a:pt x="2965" y="1870"/>
                  </a:cubicBezTo>
                  <a:cubicBezTo>
                    <a:pt x="3156" y="1751"/>
                    <a:pt x="3382" y="1668"/>
                    <a:pt x="3584" y="1596"/>
                  </a:cubicBezTo>
                  <a:cubicBezTo>
                    <a:pt x="3644" y="1584"/>
                    <a:pt x="3703" y="1525"/>
                    <a:pt x="3715" y="1465"/>
                  </a:cubicBezTo>
                  <a:lnTo>
                    <a:pt x="3918" y="513"/>
                  </a:lnTo>
                  <a:cubicBezTo>
                    <a:pt x="3930" y="417"/>
                    <a:pt x="4013" y="346"/>
                    <a:pt x="4108" y="346"/>
                  </a:cubicBezTo>
                  <a:lnTo>
                    <a:pt x="4632" y="346"/>
                  </a:lnTo>
                  <a:cubicBezTo>
                    <a:pt x="4715" y="346"/>
                    <a:pt x="4811" y="417"/>
                    <a:pt x="4823" y="513"/>
                  </a:cubicBezTo>
                  <a:lnTo>
                    <a:pt x="5013" y="1465"/>
                  </a:lnTo>
                  <a:cubicBezTo>
                    <a:pt x="5025" y="1525"/>
                    <a:pt x="5073" y="1584"/>
                    <a:pt x="5144" y="1596"/>
                  </a:cubicBezTo>
                  <a:cubicBezTo>
                    <a:pt x="5370" y="1656"/>
                    <a:pt x="5585" y="1751"/>
                    <a:pt x="5775" y="1870"/>
                  </a:cubicBezTo>
                  <a:cubicBezTo>
                    <a:pt x="5805" y="1882"/>
                    <a:pt x="5838" y="1888"/>
                    <a:pt x="5870" y="1888"/>
                  </a:cubicBezTo>
                  <a:cubicBezTo>
                    <a:pt x="5903" y="1888"/>
                    <a:pt x="5936" y="1882"/>
                    <a:pt x="5966" y="1870"/>
                  </a:cubicBezTo>
                  <a:lnTo>
                    <a:pt x="6775" y="1334"/>
                  </a:lnTo>
                  <a:cubicBezTo>
                    <a:pt x="6806" y="1309"/>
                    <a:pt x="6846" y="1296"/>
                    <a:pt x="6886" y="1296"/>
                  </a:cubicBezTo>
                  <a:cubicBezTo>
                    <a:pt x="6938" y="1296"/>
                    <a:pt x="6991" y="1317"/>
                    <a:pt x="7025" y="1358"/>
                  </a:cubicBezTo>
                  <a:lnTo>
                    <a:pt x="7394" y="1727"/>
                  </a:lnTo>
                  <a:cubicBezTo>
                    <a:pt x="7466" y="1810"/>
                    <a:pt x="7466" y="1906"/>
                    <a:pt x="7430" y="1989"/>
                  </a:cubicBezTo>
                  <a:lnTo>
                    <a:pt x="6894" y="2787"/>
                  </a:lnTo>
                  <a:cubicBezTo>
                    <a:pt x="6847" y="2846"/>
                    <a:pt x="6847" y="2918"/>
                    <a:pt x="6894" y="2977"/>
                  </a:cubicBezTo>
                  <a:cubicBezTo>
                    <a:pt x="7013" y="3180"/>
                    <a:pt x="7085" y="3394"/>
                    <a:pt x="7156" y="3608"/>
                  </a:cubicBezTo>
                  <a:cubicBezTo>
                    <a:pt x="7168" y="3668"/>
                    <a:pt x="7228" y="3727"/>
                    <a:pt x="7287" y="3739"/>
                  </a:cubicBezTo>
                  <a:lnTo>
                    <a:pt x="8240" y="3930"/>
                  </a:lnTo>
                  <a:cubicBezTo>
                    <a:pt x="8335" y="3954"/>
                    <a:pt x="8406" y="4037"/>
                    <a:pt x="8406" y="4132"/>
                  </a:cubicBezTo>
                  <a:lnTo>
                    <a:pt x="8406" y="4644"/>
                  </a:lnTo>
                  <a:cubicBezTo>
                    <a:pt x="8406" y="4739"/>
                    <a:pt x="8335" y="4823"/>
                    <a:pt x="8240" y="4847"/>
                  </a:cubicBezTo>
                  <a:lnTo>
                    <a:pt x="7287" y="5037"/>
                  </a:lnTo>
                  <a:cubicBezTo>
                    <a:pt x="7228" y="5049"/>
                    <a:pt x="7168" y="5097"/>
                    <a:pt x="7156" y="5168"/>
                  </a:cubicBezTo>
                  <a:cubicBezTo>
                    <a:pt x="7109" y="5335"/>
                    <a:pt x="7049" y="5478"/>
                    <a:pt x="6978" y="5632"/>
                  </a:cubicBezTo>
                  <a:cubicBezTo>
                    <a:pt x="6930" y="5716"/>
                    <a:pt x="6978" y="5823"/>
                    <a:pt x="7073" y="5871"/>
                  </a:cubicBezTo>
                  <a:cubicBezTo>
                    <a:pt x="7095" y="5883"/>
                    <a:pt x="7119" y="5889"/>
                    <a:pt x="7143" y="5889"/>
                  </a:cubicBezTo>
                  <a:cubicBezTo>
                    <a:pt x="7209" y="5889"/>
                    <a:pt x="7276" y="5845"/>
                    <a:pt x="7311" y="5775"/>
                  </a:cubicBezTo>
                  <a:cubicBezTo>
                    <a:pt x="7370" y="5644"/>
                    <a:pt x="7430" y="5513"/>
                    <a:pt x="7466" y="5359"/>
                  </a:cubicBezTo>
                  <a:lnTo>
                    <a:pt x="8323" y="5204"/>
                  </a:lnTo>
                  <a:cubicBezTo>
                    <a:pt x="8585" y="5144"/>
                    <a:pt x="8763" y="4918"/>
                    <a:pt x="8763" y="4644"/>
                  </a:cubicBezTo>
                  <a:lnTo>
                    <a:pt x="8763" y="4132"/>
                  </a:lnTo>
                  <a:cubicBezTo>
                    <a:pt x="8763" y="3858"/>
                    <a:pt x="8573" y="3632"/>
                    <a:pt x="8323" y="3573"/>
                  </a:cubicBezTo>
                  <a:lnTo>
                    <a:pt x="7466" y="3406"/>
                  </a:lnTo>
                  <a:cubicBezTo>
                    <a:pt x="7406" y="3227"/>
                    <a:pt x="7347" y="3073"/>
                    <a:pt x="7263" y="2906"/>
                  </a:cubicBezTo>
                  <a:lnTo>
                    <a:pt x="7740" y="2191"/>
                  </a:lnTo>
                  <a:cubicBezTo>
                    <a:pt x="7882" y="1965"/>
                    <a:pt x="7859" y="1668"/>
                    <a:pt x="7668" y="1477"/>
                  </a:cubicBezTo>
                  <a:lnTo>
                    <a:pt x="7287" y="1108"/>
                  </a:lnTo>
                  <a:cubicBezTo>
                    <a:pt x="7177" y="998"/>
                    <a:pt x="7032" y="940"/>
                    <a:pt x="6885" y="940"/>
                  </a:cubicBezTo>
                  <a:cubicBezTo>
                    <a:pt x="6777" y="940"/>
                    <a:pt x="6668" y="971"/>
                    <a:pt x="6573" y="1037"/>
                  </a:cubicBezTo>
                  <a:lnTo>
                    <a:pt x="5858" y="1513"/>
                  </a:lnTo>
                  <a:cubicBezTo>
                    <a:pt x="5704" y="1418"/>
                    <a:pt x="5537" y="1358"/>
                    <a:pt x="5358" y="1299"/>
                  </a:cubicBezTo>
                  <a:lnTo>
                    <a:pt x="5192" y="453"/>
                  </a:lnTo>
                  <a:cubicBezTo>
                    <a:pt x="5132" y="179"/>
                    <a:pt x="4906" y="1"/>
                    <a:pt x="46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0"/>
            <p:cNvSpPr/>
            <p:nvPr/>
          </p:nvSpPr>
          <p:spPr>
            <a:xfrm>
              <a:off x="6161507" y="2967679"/>
              <a:ext cx="111851" cy="97432"/>
            </a:xfrm>
            <a:custGeom>
              <a:avLst/>
              <a:gdLst/>
              <a:ahLst/>
              <a:cxnLst/>
              <a:rect l="l" t="t" r="r" b="b"/>
              <a:pathLst>
                <a:path w="3514" h="3061" extrusionOk="0">
                  <a:moveTo>
                    <a:pt x="1489" y="1"/>
                  </a:moveTo>
                  <a:cubicBezTo>
                    <a:pt x="965" y="1"/>
                    <a:pt x="465" y="215"/>
                    <a:pt x="84" y="584"/>
                  </a:cubicBezTo>
                  <a:cubicBezTo>
                    <a:pt x="1" y="656"/>
                    <a:pt x="1" y="763"/>
                    <a:pt x="84" y="834"/>
                  </a:cubicBezTo>
                  <a:cubicBezTo>
                    <a:pt x="120" y="870"/>
                    <a:pt x="164" y="888"/>
                    <a:pt x="209" y="888"/>
                  </a:cubicBezTo>
                  <a:cubicBezTo>
                    <a:pt x="254" y="888"/>
                    <a:pt x="298" y="870"/>
                    <a:pt x="334" y="834"/>
                  </a:cubicBezTo>
                  <a:cubicBezTo>
                    <a:pt x="644" y="537"/>
                    <a:pt x="1060" y="358"/>
                    <a:pt x="1489" y="358"/>
                  </a:cubicBezTo>
                  <a:cubicBezTo>
                    <a:pt x="2418" y="358"/>
                    <a:pt x="3168" y="1108"/>
                    <a:pt x="3168" y="2025"/>
                  </a:cubicBezTo>
                  <a:cubicBezTo>
                    <a:pt x="3168" y="2299"/>
                    <a:pt x="3096" y="2549"/>
                    <a:pt x="2989" y="2787"/>
                  </a:cubicBezTo>
                  <a:cubicBezTo>
                    <a:pt x="2930" y="2894"/>
                    <a:pt x="2953" y="2989"/>
                    <a:pt x="3049" y="3037"/>
                  </a:cubicBezTo>
                  <a:cubicBezTo>
                    <a:pt x="3073" y="3061"/>
                    <a:pt x="3108" y="3061"/>
                    <a:pt x="3132" y="3061"/>
                  </a:cubicBezTo>
                  <a:cubicBezTo>
                    <a:pt x="3192" y="3061"/>
                    <a:pt x="3263" y="3025"/>
                    <a:pt x="3299" y="2954"/>
                  </a:cubicBezTo>
                  <a:cubicBezTo>
                    <a:pt x="3442" y="2668"/>
                    <a:pt x="3513" y="2358"/>
                    <a:pt x="3513" y="2025"/>
                  </a:cubicBezTo>
                  <a:cubicBezTo>
                    <a:pt x="3513" y="906"/>
                    <a:pt x="2608" y="1"/>
                    <a:pt x="1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0"/>
            <p:cNvSpPr/>
            <p:nvPr/>
          </p:nvSpPr>
          <p:spPr>
            <a:xfrm>
              <a:off x="6144828" y="3007848"/>
              <a:ext cx="105389" cy="88742"/>
            </a:xfrm>
            <a:custGeom>
              <a:avLst/>
              <a:gdLst/>
              <a:ahLst/>
              <a:cxnLst/>
              <a:rect l="l" t="t" r="r" b="b"/>
              <a:pathLst>
                <a:path w="3311" h="2788" extrusionOk="0">
                  <a:moveTo>
                    <a:pt x="262" y="1"/>
                  </a:moveTo>
                  <a:cubicBezTo>
                    <a:pt x="194" y="1"/>
                    <a:pt x="124" y="44"/>
                    <a:pt x="96" y="108"/>
                  </a:cubicBezTo>
                  <a:cubicBezTo>
                    <a:pt x="25" y="323"/>
                    <a:pt x="1" y="549"/>
                    <a:pt x="1" y="763"/>
                  </a:cubicBezTo>
                  <a:cubicBezTo>
                    <a:pt x="1" y="1882"/>
                    <a:pt x="906" y="2787"/>
                    <a:pt x="2013" y="2787"/>
                  </a:cubicBezTo>
                  <a:cubicBezTo>
                    <a:pt x="2454" y="2787"/>
                    <a:pt x="2846" y="2656"/>
                    <a:pt x="3204" y="2406"/>
                  </a:cubicBezTo>
                  <a:cubicBezTo>
                    <a:pt x="3287" y="2347"/>
                    <a:pt x="3311" y="2239"/>
                    <a:pt x="3251" y="2156"/>
                  </a:cubicBezTo>
                  <a:cubicBezTo>
                    <a:pt x="3214" y="2104"/>
                    <a:pt x="3159" y="2075"/>
                    <a:pt x="3102" y="2075"/>
                  </a:cubicBezTo>
                  <a:cubicBezTo>
                    <a:pt x="3068" y="2075"/>
                    <a:pt x="3033" y="2086"/>
                    <a:pt x="3001" y="2108"/>
                  </a:cubicBezTo>
                  <a:cubicBezTo>
                    <a:pt x="2715" y="2311"/>
                    <a:pt x="2370" y="2418"/>
                    <a:pt x="2037" y="2418"/>
                  </a:cubicBezTo>
                  <a:cubicBezTo>
                    <a:pt x="1108" y="2418"/>
                    <a:pt x="370" y="1680"/>
                    <a:pt x="370" y="751"/>
                  </a:cubicBezTo>
                  <a:cubicBezTo>
                    <a:pt x="370" y="573"/>
                    <a:pt x="394" y="382"/>
                    <a:pt x="453" y="215"/>
                  </a:cubicBezTo>
                  <a:cubicBezTo>
                    <a:pt x="477" y="144"/>
                    <a:pt x="406" y="37"/>
                    <a:pt x="322" y="13"/>
                  </a:cubicBezTo>
                  <a:cubicBezTo>
                    <a:pt x="303" y="5"/>
                    <a:pt x="283" y="1"/>
                    <a:pt x="2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0"/>
            <p:cNvSpPr/>
            <p:nvPr/>
          </p:nvSpPr>
          <p:spPr>
            <a:xfrm>
              <a:off x="6245633" y="3069248"/>
              <a:ext cx="186110" cy="186874"/>
            </a:xfrm>
            <a:custGeom>
              <a:avLst/>
              <a:gdLst/>
              <a:ahLst/>
              <a:cxnLst/>
              <a:rect l="l" t="t" r="r" b="b"/>
              <a:pathLst>
                <a:path w="5847" h="5871" extrusionOk="0">
                  <a:moveTo>
                    <a:pt x="2751" y="1"/>
                  </a:moveTo>
                  <a:cubicBezTo>
                    <a:pt x="2549" y="1"/>
                    <a:pt x="2370" y="144"/>
                    <a:pt x="2335" y="346"/>
                  </a:cubicBezTo>
                  <a:lnTo>
                    <a:pt x="2227" y="858"/>
                  </a:lnTo>
                  <a:cubicBezTo>
                    <a:pt x="2144" y="894"/>
                    <a:pt x="2037" y="941"/>
                    <a:pt x="1965" y="977"/>
                  </a:cubicBezTo>
                  <a:lnTo>
                    <a:pt x="1513" y="680"/>
                  </a:lnTo>
                  <a:cubicBezTo>
                    <a:pt x="1449" y="631"/>
                    <a:pt x="1372" y="608"/>
                    <a:pt x="1293" y="608"/>
                  </a:cubicBezTo>
                  <a:cubicBezTo>
                    <a:pt x="1179" y="608"/>
                    <a:pt x="1061" y="655"/>
                    <a:pt x="977" y="739"/>
                  </a:cubicBezTo>
                  <a:lnTo>
                    <a:pt x="739" y="977"/>
                  </a:lnTo>
                  <a:cubicBezTo>
                    <a:pt x="596" y="1132"/>
                    <a:pt x="584" y="1346"/>
                    <a:pt x="680" y="1513"/>
                  </a:cubicBezTo>
                  <a:lnTo>
                    <a:pt x="977" y="1965"/>
                  </a:lnTo>
                  <a:cubicBezTo>
                    <a:pt x="918" y="2084"/>
                    <a:pt x="882" y="2215"/>
                    <a:pt x="834" y="2346"/>
                  </a:cubicBezTo>
                  <a:cubicBezTo>
                    <a:pt x="799" y="2442"/>
                    <a:pt x="858" y="2537"/>
                    <a:pt x="953" y="2573"/>
                  </a:cubicBezTo>
                  <a:cubicBezTo>
                    <a:pt x="968" y="2579"/>
                    <a:pt x="984" y="2582"/>
                    <a:pt x="1000" y="2582"/>
                  </a:cubicBezTo>
                  <a:cubicBezTo>
                    <a:pt x="1073" y="2582"/>
                    <a:pt x="1150" y="2522"/>
                    <a:pt x="1180" y="2454"/>
                  </a:cubicBezTo>
                  <a:cubicBezTo>
                    <a:pt x="1215" y="2323"/>
                    <a:pt x="1263" y="2192"/>
                    <a:pt x="1334" y="2049"/>
                  </a:cubicBezTo>
                  <a:cubicBezTo>
                    <a:pt x="1370" y="1989"/>
                    <a:pt x="1370" y="1918"/>
                    <a:pt x="1334" y="1858"/>
                  </a:cubicBezTo>
                  <a:lnTo>
                    <a:pt x="977" y="1322"/>
                  </a:lnTo>
                  <a:cubicBezTo>
                    <a:pt x="965" y="1287"/>
                    <a:pt x="965" y="1263"/>
                    <a:pt x="1001" y="1239"/>
                  </a:cubicBezTo>
                  <a:lnTo>
                    <a:pt x="1239" y="989"/>
                  </a:lnTo>
                  <a:cubicBezTo>
                    <a:pt x="1253" y="975"/>
                    <a:pt x="1271" y="969"/>
                    <a:pt x="1288" y="969"/>
                  </a:cubicBezTo>
                  <a:cubicBezTo>
                    <a:pt x="1301" y="969"/>
                    <a:pt x="1313" y="972"/>
                    <a:pt x="1322" y="977"/>
                  </a:cubicBezTo>
                  <a:lnTo>
                    <a:pt x="1858" y="1334"/>
                  </a:lnTo>
                  <a:cubicBezTo>
                    <a:pt x="1888" y="1358"/>
                    <a:pt x="1921" y="1370"/>
                    <a:pt x="1954" y="1370"/>
                  </a:cubicBezTo>
                  <a:cubicBezTo>
                    <a:pt x="1986" y="1370"/>
                    <a:pt x="2019" y="1358"/>
                    <a:pt x="2049" y="1334"/>
                  </a:cubicBezTo>
                  <a:cubicBezTo>
                    <a:pt x="2168" y="1263"/>
                    <a:pt x="2323" y="1203"/>
                    <a:pt x="2454" y="1168"/>
                  </a:cubicBezTo>
                  <a:cubicBezTo>
                    <a:pt x="2513" y="1156"/>
                    <a:pt x="2573" y="1096"/>
                    <a:pt x="2585" y="1037"/>
                  </a:cubicBezTo>
                  <a:lnTo>
                    <a:pt x="2704" y="418"/>
                  </a:lnTo>
                  <a:cubicBezTo>
                    <a:pt x="2704" y="382"/>
                    <a:pt x="2739" y="358"/>
                    <a:pt x="2775" y="358"/>
                  </a:cubicBezTo>
                  <a:lnTo>
                    <a:pt x="3120" y="358"/>
                  </a:lnTo>
                  <a:cubicBezTo>
                    <a:pt x="3156" y="358"/>
                    <a:pt x="3180" y="382"/>
                    <a:pt x="3192" y="418"/>
                  </a:cubicBezTo>
                  <a:lnTo>
                    <a:pt x="3311" y="1037"/>
                  </a:lnTo>
                  <a:cubicBezTo>
                    <a:pt x="3335" y="1096"/>
                    <a:pt x="3370" y="1156"/>
                    <a:pt x="3454" y="1168"/>
                  </a:cubicBezTo>
                  <a:cubicBezTo>
                    <a:pt x="3585" y="1215"/>
                    <a:pt x="3716" y="1263"/>
                    <a:pt x="3847" y="1334"/>
                  </a:cubicBezTo>
                  <a:cubicBezTo>
                    <a:pt x="3882" y="1352"/>
                    <a:pt x="3918" y="1361"/>
                    <a:pt x="3952" y="1361"/>
                  </a:cubicBezTo>
                  <a:cubicBezTo>
                    <a:pt x="3987" y="1361"/>
                    <a:pt x="4019" y="1352"/>
                    <a:pt x="4049" y="1334"/>
                  </a:cubicBezTo>
                  <a:lnTo>
                    <a:pt x="4585" y="977"/>
                  </a:lnTo>
                  <a:cubicBezTo>
                    <a:pt x="4595" y="972"/>
                    <a:pt x="4607" y="969"/>
                    <a:pt x="4619" y="969"/>
                  </a:cubicBezTo>
                  <a:cubicBezTo>
                    <a:pt x="4636" y="969"/>
                    <a:pt x="4654" y="975"/>
                    <a:pt x="4668" y="989"/>
                  </a:cubicBezTo>
                  <a:lnTo>
                    <a:pt x="4906" y="1239"/>
                  </a:lnTo>
                  <a:cubicBezTo>
                    <a:pt x="4942" y="1263"/>
                    <a:pt x="4942" y="1287"/>
                    <a:pt x="4918" y="1322"/>
                  </a:cubicBezTo>
                  <a:lnTo>
                    <a:pt x="4561" y="1858"/>
                  </a:lnTo>
                  <a:cubicBezTo>
                    <a:pt x="4525" y="1918"/>
                    <a:pt x="4525" y="1989"/>
                    <a:pt x="4561" y="2049"/>
                  </a:cubicBezTo>
                  <a:cubicBezTo>
                    <a:pt x="4644" y="2168"/>
                    <a:pt x="4704" y="2323"/>
                    <a:pt x="4728" y="2454"/>
                  </a:cubicBezTo>
                  <a:cubicBezTo>
                    <a:pt x="4740" y="2513"/>
                    <a:pt x="4799" y="2573"/>
                    <a:pt x="4859" y="2585"/>
                  </a:cubicBezTo>
                  <a:lnTo>
                    <a:pt x="5490" y="2704"/>
                  </a:lnTo>
                  <a:cubicBezTo>
                    <a:pt x="5513" y="2704"/>
                    <a:pt x="5549" y="2739"/>
                    <a:pt x="5549" y="2775"/>
                  </a:cubicBezTo>
                  <a:lnTo>
                    <a:pt x="5549" y="3120"/>
                  </a:lnTo>
                  <a:cubicBezTo>
                    <a:pt x="5549" y="3156"/>
                    <a:pt x="5513" y="3180"/>
                    <a:pt x="5490" y="3192"/>
                  </a:cubicBezTo>
                  <a:lnTo>
                    <a:pt x="4859" y="3311"/>
                  </a:lnTo>
                  <a:cubicBezTo>
                    <a:pt x="4799" y="3335"/>
                    <a:pt x="4740" y="3370"/>
                    <a:pt x="4728" y="3454"/>
                  </a:cubicBezTo>
                  <a:cubicBezTo>
                    <a:pt x="4680" y="3585"/>
                    <a:pt x="4644" y="3716"/>
                    <a:pt x="4561" y="3847"/>
                  </a:cubicBezTo>
                  <a:cubicBezTo>
                    <a:pt x="4537" y="3906"/>
                    <a:pt x="4537" y="3989"/>
                    <a:pt x="4561" y="4049"/>
                  </a:cubicBezTo>
                  <a:lnTo>
                    <a:pt x="4918" y="4585"/>
                  </a:lnTo>
                  <a:cubicBezTo>
                    <a:pt x="4942" y="4609"/>
                    <a:pt x="4942" y="4644"/>
                    <a:pt x="4906" y="4668"/>
                  </a:cubicBezTo>
                  <a:lnTo>
                    <a:pt x="4668" y="4906"/>
                  </a:lnTo>
                  <a:cubicBezTo>
                    <a:pt x="4655" y="4926"/>
                    <a:pt x="4638" y="4935"/>
                    <a:pt x="4622" y="4935"/>
                  </a:cubicBezTo>
                  <a:cubicBezTo>
                    <a:pt x="4609" y="4935"/>
                    <a:pt x="4595" y="4929"/>
                    <a:pt x="4585" y="4918"/>
                  </a:cubicBezTo>
                  <a:lnTo>
                    <a:pt x="4049" y="4561"/>
                  </a:lnTo>
                  <a:cubicBezTo>
                    <a:pt x="4019" y="4543"/>
                    <a:pt x="3984" y="4534"/>
                    <a:pt x="3948" y="4534"/>
                  </a:cubicBezTo>
                  <a:cubicBezTo>
                    <a:pt x="3912" y="4534"/>
                    <a:pt x="3876" y="4543"/>
                    <a:pt x="3847" y="4561"/>
                  </a:cubicBezTo>
                  <a:cubicBezTo>
                    <a:pt x="3728" y="4644"/>
                    <a:pt x="3585" y="4704"/>
                    <a:pt x="3454" y="4728"/>
                  </a:cubicBezTo>
                  <a:cubicBezTo>
                    <a:pt x="3394" y="4751"/>
                    <a:pt x="3335" y="4811"/>
                    <a:pt x="3311" y="4859"/>
                  </a:cubicBezTo>
                  <a:lnTo>
                    <a:pt x="3192" y="5490"/>
                  </a:lnTo>
                  <a:cubicBezTo>
                    <a:pt x="3192" y="5525"/>
                    <a:pt x="3168" y="5549"/>
                    <a:pt x="3120" y="5549"/>
                  </a:cubicBezTo>
                  <a:lnTo>
                    <a:pt x="2775" y="5549"/>
                  </a:lnTo>
                  <a:cubicBezTo>
                    <a:pt x="2751" y="5549"/>
                    <a:pt x="2716" y="5513"/>
                    <a:pt x="2704" y="5490"/>
                  </a:cubicBezTo>
                  <a:lnTo>
                    <a:pt x="2585" y="4859"/>
                  </a:lnTo>
                  <a:cubicBezTo>
                    <a:pt x="2573" y="4811"/>
                    <a:pt x="2525" y="4751"/>
                    <a:pt x="2454" y="4728"/>
                  </a:cubicBezTo>
                  <a:cubicBezTo>
                    <a:pt x="2323" y="4692"/>
                    <a:pt x="2180" y="4644"/>
                    <a:pt x="2049" y="4561"/>
                  </a:cubicBezTo>
                  <a:cubicBezTo>
                    <a:pt x="2019" y="4549"/>
                    <a:pt x="1986" y="4543"/>
                    <a:pt x="1954" y="4543"/>
                  </a:cubicBezTo>
                  <a:cubicBezTo>
                    <a:pt x="1921" y="4543"/>
                    <a:pt x="1888" y="4549"/>
                    <a:pt x="1858" y="4561"/>
                  </a:cubicBezTo>
                  <a:lnTo>
                    <a:pt x="1322" y="4918"/>
                  </a:lnTo>
                  <a:cubicBezTo>
                    <a:pt x="1306" y="4929"/>
                    <a:pt x="1293" y="4935"/>
                    <a:pt x="1280" y="4935"/>
                  </a:cubicBezTo>
                  <a:cubicBezTo>
                    <a:pt x="1265" y="4935"/>
                    <a:pt x="1252" y="4926"/>
                    <a:pt x="1239" y="4906"/>
                  </a:cubicBezTo>
                  <a:lnTo>
                    <a:pt x="1001" y="4668"/>
                  </a:lnTo>
                  <a:cubicBezTo>
                    <a:pt x="965" y="4644"/>
                    <a:pt x="965" y="4609"/>
                    <a:pt x="977" y="4585"/>
                  </a:cubicBezTo>
                  <a:lnTo>
                    <a:pt x="1334" y="4049"/>
                  </a:lnTo>
                  <a:cubicBezTo>
                    <a:pt x="1382" y="3989"/>
                    <a:pt x="1382" y="3906"/>
                    <a:pt x="1334" y="3847"/>
                  </a:cubicBezTo>
                  <a:cubicBezTo>
                    <a:pt x="1263" y="3728"/>
                    <a:pt x="1203" y="3585"/>
                    <a:pt x="1180" y="3454"/>
                  </a:cubicBezTo>
                  <a:cubicBezTo>
                    <a:pt x="1156" y="3394"/>
                    <a:pt x="1096" y="3335"/>
                    <a:pt x="1037" y="3311"/>
                  </a:cubicBezTo>
                  <a:lnTo>
                    <a:pt x="418" y="3192"/>
                  </a:lnTo>
                  <a:cubicBezTo>
                    <a:pt x="382" y="3192"/>
                    <a:pt x="358" y="3168"/>
                    <a:pt x="358" y="3120"/>
                  </a:cubicBezTo>
                  <a:lnTo>
                    <a:pt x="358" y="2775"/>
                  </a:lnTo>
                  <a:cubicBezTo>
                    <a:pt x="358" y="2751"/>
                    <a:pt x="382" y="2727"/>
                    <a:pt x="418" y="2704"/>
                  </a:cubicBezTo>
                  <a:lnTo>
                    <a:pt x="465" y="2692"/>
                  </a:lnTo>
                  <a:cubicBezTo>
                    <a:pt x="560" y="2680"/>
                    <a:pt x="620" y="2573"/>
                    <a:pt x="596" y="2477"/>
                  </a:cubicBezTo>
                  <a:cubicBezTo>
                    <a:pt x="586" y="2396"/>
                    <a:pt x="507" y="2341"/>
                    <a:pt x="425" y="2341"/>
                  </a:cubicBezTo>
                  <a:cubicBezTo>
                    <a:pt x="411" y="2341"/>
                    <a:pt x="396" y="2343"/>
                    <a:pt x="382" y="2346"/>
                  </a:cubicBezTo>
                  <a:lnTo>
                    <a:pt x="346" y="2370"/>
                  </a:lnTo>
                  <a:cubicBezTo>
                    <a:pt x="144" y="2406"/>
                    <a:pt x="1" y="2585"/>
                    <a:pt x="1" y="2775"/>
                  </a:cubicBezTo>
                  <a:lnTo>
                    <a:pt x="1" y="3120"/>
                  </a:lnTo>
                  <a:cubicBezTo>
                    <a:pt x="1" y="3335"/>
                    <a:pt x="144" y="3513"/>
                    <a:pt x="346" y="3537"/>
                  </a:cubicBezTo>
                  <a:lnTo>
                    <a:pt x="858" y="3644"/>
                  </a:lnTo>
                  <a:cubicBezTo>
                    <a:pt x="894" y="3728"/>
                    <a:pt x="941" y="3835"/>
                    <a:pt x="977" y="3906"/>
                  </a:cubicBezTo>
                  <a:lnTo>
                    <a:pt x="680" y="4359"/>
                  </a:lnTo>
                  <a:cubicBezTo>
                    <a:pt x="560" y="4525"/>
                    <a:pt x="596" y="4763"/>
                    <a:pt x="739" y="4894"/>
                  </a:cubicBezTo>
                  <a:lnTo>
                    <a:pt x="977" y="5132"/>
                  </a:lnTo>
                  <a:cubicBezTo>
                    <a:pt x="1067" y="5216"/>
                    <a:pt x="1182" y="5259"/>
                    <a:pt x="1292" y="5259"/>
                  </a:cubicBezTo>
                  <a:cubicBezTo>
                    <a:pt x="1371" y="5259"/>
                    <a:pt x="1448" y="5237"/>
                    <a:pt x="1513" y="5192"/>
                  </a:cubicBezTo>
                  <a:lnTo>
                    <a:pt x="1965" y="4894"/>
                  </a:lnTo>
                  <a:cubicBezTo>
                    <a:pt x="2049" y="4942"/>
                    <a:pt x="2144" y="4978"/>
                    <a:pt x="2227" y="5013"/>
                  </a:cubicBezTo>
                  <a:lnTo>
                    <a:pt x="2335" y="5537"/>
                  </a:lnTo>
                  <a:cubicBezTo>
                    <a:pt x="2382" y="5728"/>
                    <a:pt x="2561" y="5871"/>
                    <a:pt x="2751" y="5871"/>
                  </a:cubicBezTo>
                  <a:lnTo>
                    <a:pt x="3097" y="5871"/>
                  </a:lnTo>
                  <a:cubicBezTo>
                    <a:pt x="3299" y="5871"/>
                    <a:pt x="3478" y="5728"/>
                    <a:pt x="3513" y="5537"/>
                  </a:cubicBezTo>
                  <a:lnTo>
                    <a:pt x="3620" y="5013"/>
                  </a:lnTo>
                  <a:cubicBezTo>
                    <a:pt x="3704" y="4978"/>
                    <a:pt x="3811" y="4942"/>
                    <a:pt x="3882" y="4894"/>
                  </a:cubicBezTo>
                  <a:lnTo>
                    <a:pt x="4323" y="5192"/>
                  </a:lnTo>
                  <a:cubicBezTo>
                    <a:pt x="4391" y="5241"/>
                    <a:pt x="4472" y="5264"/>
                    <a:pt x="4552" y="5264"/>
                  </a:cubicBezTo>
                  <a:cubicBezTo>
                    <a:pt x="4667" y="5264"/>
                    <a:pt x="4781" y="5217"/>
                    <a:pt x="4859" y="5132"/>
                  </a:cubicBezTo>
                  <a:lnTo>
                    <a:pt x="5097" y="4894"/>
                  </a:lnTo>
                  <a:cubicBezTo>
                    <a:pt x="5252" y="4740"/>
                    <a:pt x="5263" y="4525"/>
                    <a:pt x="5156" y="4359"/>
                  </a:cubicBezTo>
                  <a:lnTo>
                    <a:pt x="4859" y="3906"/>
                  </a:lnTo>
                  <a:cubicBezTo>
                    <a:pt x="4906" y="3823"/>
                    <a:pt x="4954" y="3728"/>
                    <a:pt x="4978" y="3644"/>
                  </a:cubicBezTo>
                  <a:lnTo>
                    <a:pt x="5502" y="3537"/>
                  </a:lnTo>
                  <a:cubicBezTo>
                    <a:pt x="5692" y="3489"/>
                    <a:pt x="5847" y="3311"/>
                    <a:pt x="5847" y="3120"/>
                  </a:cubicBezTo>
                  <a:lnTo>
                    <a:pt x="5847" y="2775"/>
                  </a:lnTo>
                  <a:cubicBezTo>
                    <a:pt x="5847" y="2549"/>
                    <a:pt x="5716" y="2382"/>
                    <a:pt x="5502" y="2334"/>
                  </a:cubicBezTo>
                  <a:lnTo>
                    <a:pt x="4990" y="2227"/>
                  </a:lnTo>
                  <a:cubicBezTo>
                    <a:pt x="4954" y="2144"/>
                    <a:pt x="4906" y="2037"/>
                    <a:pt x="4871" y="1965"/>
                  </a:cubicBezTo>
                  <a:lnTo>
                    <a:pt x="5168" y="1513"/>
                  </a:lnTo>
                  <a:cubicBezTo>
                    <a:pt x="5287" y="1346"/>
                    <a:pt x="5252" y="1108"/>
                    <a:pt x="5109" y="977"/>
                  </a:cubicBezTo>
                  <a:lnTo>
                    <a:pt x="4871" y="739"/>
                  </a:lnTo>
                  <a:cubicBezTo>
                    <a:pt x="4780" y="656"/>
                    <a:pt x="4666" y="613"/>
                    <a:pt x="4555" y="613"/>
                  </a:cubicBezTo>
                  <a:cubicBezTo>
                    <a:pt x="4476" y="613"/>
                    <a:pt x="4399" y="635"/>
                    <a:pt x="4335" y="680"/>
                  </a:cubicBezTo>
                  <a:lnTo>
                    <a:pt x="3882" y="977"/>
                  </a:lnTo>
                  <a:cubicBezTo>
                    <a:pt x="3799" y="941"/>
                    <a:pt x="3704" y="894"/>
                    <a:pt x="3620" y="858"/>
                  </a:cubicBezTo>
                  <a:lnTo>
                    <a:pt x="3513" y="346"/>
                  </a:lnTo>
                  <a:cubicBezTo>
                    <a:pt x="3466" y="144"/>
                    <a:pt x="3287" y="1"/>
                    <a:pt x="30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0"/>
            <p:cNvSpPr/>
            <p:nvPr/>
          </p:nvSpPr>
          <p:spPr>
            <a:xfrm>
              <a:off x="6305888" y="3129884"/>
              <a:ext cx="64488" cy="64456"/>
            </a:xfrm>
            <a:custGeom>
              <a:avLst/>
              <a:gdLst/>
              <a:ahLst/>
              <a:cxnLst/>
              <a:rect l="l" t="t" r="r" b="b"/>
              <a:pathLst>
                <a:path w="2026" h="2025" extrusionOk="0">
                  <a:moveTo>
                    <a:pt x="1013" y="1"/>
                  </a:moveTo>
                  <a:cubicBezTo>
                    <a:pt x="453" y="1"/>
                    <a:pt x="1" y="441"/>
                    <a:pt x="1" y="1013"/>
                  </a:cubicBezTo>
                  <a:cubicBezTo>
                    <a:pt x="1" y="1561"/>
                    <a:pt x="442" y="2025"/>
                    <a:pt x="1013" y="2025"/>
                  </a:cubicBezTo>
                  <a:cubicBezTo>
                    <a:pt x="1227" y="2025"/>
                    <a:pt x="1442" y="1942"/>
                    <a:pt x="1620" y="1811"/>
                  </a:cubicBezTo>
                  <a:cubicBezTo>
                    <a:pt x="1692" y="1751"/>
                    <a:pt x="1704" y="1632"/>
                    <a:pt x="1644" y="1561"/>
                  </a:cubicBezTo>
                  <a:cubicBezTo>
                    <a:pt x="1608" y="1517"/>
                    <a:pt x="1549" y="1491"/>
                    <a:pt x="1493" y="1491"/>
                  </a:cubicBezTo>
                  <a:cubicBezTo>
                    <a:pt x="1457" y="1491"/>
                    <a:pt x="1422" y="1502"/>
                    <a:pt x="1394" y="1525"/>
                  </a:cubicBezTo>
                  <a:cubicBezTo>
                    <a:pt x="1275" y="1620"/>
                    <a:pt x="1144" y="1668"/>
                    <a:pt x="989" y="1668"/>
                  </a:cubicBezTo>
                  <a:cubicBezTo>
                    <a:pt x="632" y="1668"/>
                    <a:pt x="358" y="1370"/>
                    <a:pt x="358" y="1025"/>
                  </a:cubicBezTo>
                  <a:cubicBezTo>
                    <a:pt x="382" y="668"/>
                    <a:pt x="668" y="370"/>
                    <a:pt x="1025" y="370"/>
                  </a:cubicBezTo>
                  <a:cubicBezTo>
                    <a:pt x="1382" y="370"/>
                    <a:pt x="1668" y="668"/>
                    <a:pt x="1668" y="1013"/>
                  </a:cubicBezTo>
                  <a:cubicBezTo>
                    <a:pt x="1668" y="1120"/>
                    <a:pt x="1739" y="1191"/>
                    <a:pt x="1846" y="1191"/>
                  </a:cubicBezTo>
                  <a:cubicBezTo>
                    <a:pt x="1942" y="1191"/>
                    <a:pt x="2025" y="1120"/>
                    <a:pt x="2025" y="1013"/>
                  </a:cubicBezTo>
                  <a:cubicBezTo>
                    <a:pt x="2025" y="453"/>
                    <a:pt x="1573" y="1"/>
                    <a:pt x="10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0"/>
            <p:cNvSpPr/>
            <p:nvPr/>
          </p:nvSpPr>
          <p:spPr>
            <a:xfrm>
              <a:off x="6173634" y="2997631"/>
              <a:ext cx="70153" cy="70153"/>
            </a:xfrm>
            <a:custGeom>
              <a:avLst/>
              <a:gdLst/>
              <a:ahLst/>
              <a:cxnLst/>
              <a:rect l="l" t="t" r="r" b="b"/>
              <a:pathLst>
                <a:path w="2204" h="2204" extrusionOk="0">
                  <a:moveTo>
                    <a:pt x="1096" y="370"/>
                  </a:moveTo>
                  <a:cubicBezTo>
                    <a:pt x="1501" y="370"/>
                    <a:pt x="1834" y="703"/>
                    <a:pt x="1834" y="1108"/>
                  </a:cubicBezTo>
                  <a:cubicBezTo>
                    <a:pt x="1834" y="1501"/>
                    <a:pt x="1501" y="1834"/>
                    <a:pt x="1096" y="1834"/>
                  </a:cubicBezTo>
                  <a:cubicBezTo>
                    <a:pt x="691" y="1834"/>
                    <a:pt x="370" y="1501"/>
                    <a:pt x="370" y="1108"/>
                  </a:cubicBezTo>
                  <a:cubicBezTo>
                    <a:pt x="370" y="703"/>
                    <a:pt x="703" y="370"/>
                    <a:pt x="1096" y="370"/>
                  </a:cubicBezTo>
                  <a:close/>
                  <a:moveTo>
                    <a:pt x="1096" y="1"/>
                  </a:moveTo>
                  <a:cubicBezTo>
                    <a:pt x="489" y="1"/>
                    <a:pt x="1" y="489"/>
                    <a:pt x="1" y="1108"/>
                  </a:cubicBezTo>
                  <a:cubicBezTo>
                    <a:pt x="1" y="1715"/>
                    <a:pt x="489" y="2203"/>
                    <a:pt x="1096" y="2203"/>
                  </a:cubicBezTo>
                  <a:cubicBezTo>
                    <a:pt x="1715" y="2191"/>
                    <a:pt x="2203" y="1703"/>
                    <a:pt x="2203" y="1108"/>
                  </a:cubicBezTo>
                  <a:cubicBezTo>
                    <a:pt x="2203" y="489"/>
                    <a:pt x="1715" y="1"/>
                    <a:pt x="10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2" name="Google Shape;162;p20"/>
          <p:cNvSpPr/>
          <p:nvPr/>
        </p:nvSpPr>
        <p:spPr>
          <a:xfrm rot="-5400000">
            <a:off x="165488" y="2738275"/>
            <a:ext cx="3294900" cy="4572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b="1" dirty="0">
                <a:solidFill>
                  <a:schemeClr val="lt2"/>
                </a:solidFill>
                <a:latin typeface="+mn-lt"/>
                <a:ea typeface="Rajdhani" panose="02000000000000000000"/>
                <a:cs typeface="Rajdhani" panose="02000000000000000000"/>
                <a:sym typeface="Rajdhani" panose="02000000000000000000"/>
              </a:rPr>
              <a:t>Some of Limitations</a:t>
            </a:r>
          </a:p>
        </p:txBody>
      </p:sp>
      <p:cxnSp>
        <p:nvCxnSpPr>
          <p:cNvPr id="163" name="Google Shape;163;p20"/>
          <p:cNvCxnSpPr>
            <a:stCxn id="162" idx="2"/>
            <a:endCxn id="164" idx="3"/>
          </p:cNvCxnSpPr>
          <p:nvPr/>
        </p:nvCxnSpPr>
        <p:spPr>
          <a:xfrm>
            <a:off x="2041525" y="2966720"/>
            <a:ext cx="1316355" cy="767715"/>
          </a:xfrm>
          <a:prstGeom prst="bentConnector3">
            <a:avLst>
              <a:gd name="adj1" fmla="val 50024"/>
            </a:avLst>
          </a:prstGeom>
          <a:noFill/>
          <a:ln w="19050" cap="flat" cmpd="sng">
            <a:solidFill>
              <a:schemeClr val="lt2"/>
            </a:solidFill>
            <a:prstDash val="dash"/>
            <a:round/>
            <a:headEnd type="none" w="med" len="med"/>
            <a:tailEnd type="oval" w="med" len="med"/>
          </a:ln>
        </p:spPr>
      </p:cxnSp>
      <p:cxnSp>
        <p:nvCxnSpPr>
          <p:cNvPr id="165" name="Google Shape;165;p20"/>
          <p:cNvCxnSpPr>
            <a:stCxn id="162" idx="2"/>
            <a:endCxn id="166" idx="3"/>
          </p:cNvCxnSpPr>
          <p:nvPr/>
        </p:nvCxnSpPr>
        <p:spPr>
          <a:xfrm flipV="1">
            <a:off x="2041525" y="2197735"/>
            <a:ext cx="1300480" cy="768985"/>
          </a:xfrm>
          <a:prstGeom prst="bentConnector3">
            <a:avLst>
              <a:gd name="adj1" fmla="val 50000"/>
            </a:avLst>
          </a:prstGeom>
          <a:noFill/>
          <a:ln w="19050" cap="flat" cmpd="sng">
            <a:solidFill>
              <a:schemeClr val="lt2"/>
            </a:solidFill>
            <a:prstDash val="dash"/>
            <a:round/>
            <a:headEnd type="none" w="med" len="med"/>
            <a:tailEnd type="oval" w="med" len="med"/>
          </a:ln>
        </p:spPr>
      </p:cxnSp>
      <p:grpSp>
        <p:nvGrpSpPr>
          <p:cNvPr id="167" name="Google Shape;167;p20"/>
          <p:cNvGrpSpPr/>
          <p:nvPr/>
        </p:nvGrpSpPr>
        <p:grpSpPr>
          <a:xfrm>
            <a:off x="5837027" y="3513045"/>
            <a:ext cx="2581910" cy="1056640"/>
            <a:chOff x="5837027" y="3513045"/>
            <a:chExt cx="2581910" cy="1056640"/>
          </a:xfrm>
        </p:grpSpPr>
        <p:sp>
          <p:nvSpPr>
            <p:cNvPr id="168" name="Google Shape;168;p20"/>
            <p:cNvSpPr txBox="1"/>
            <p:nvPr/>
          </p:nvSpPr>
          <p:spPr>
            <a:xfrm flipH="1">
              <a:off x="5837027" y="3513045"/>
              <a:ext cx="258191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2000" b="1" dirty="0">
                  <a:solidFill>
                    <a:schemeClr val="lt2"/>
                  </a:solidFill>
                  <a:latin typeface="+mn-lt"/>
                  <a:ea typeface="Rajdhani" panose="02000000000000000000"/>
                  <a:cs typeface="Rajdhani" panose="02000000000000000000"/>
                  <a:sym typeface="Rajdhani" panose="02000000000000000000"/>
                </a:rPr>
                <a:t>Real-Time Analysis</a:t>
              </a:r>
            </a:p>
          </p:txBody>
        </p:sp>
        <p:sp>
          <p:nvSpPr>
            <p:cNvPr id="169" name="Google Shape;169;p20"/>
            <p:cNvSpPr txBox="1"/>
            <p:nvPr/>
          </p:nvSpPr>
          <p:spPr>
            <a:xfrm flipH="1">
              <a:off x="5837662" y="3850230"/>
              <a:ext cx="2413000" cy="71945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  Detecting and analyzing subtle facial cues in real-time.</a:t>
              </a:r>
            </a:p>
          </p:txBody>
        </p:sp>
      </p:grpSp>
      <p:grpSp>
        <p:nvGrpSpPr>
          <p:cNvPr id="170" name="Google Shape;170;p20"/>
          <p:cNvGrpSpPr/>
          <p:nvPr/>
        </p:nvGrpSpPr>
        <p:grpSpPr>
          <a:xfrm>
            <a:off x="3167718" y="3505998"/>
            <a:ext cx="2208199" cy="1063625"/>
            <a:chOff x="3203540" y="3060744"/>
            <a:chExt cx="2533210" cy="1063625"/>
          </a:xfrm>
        </p:grpSpPr>
        <p:sp>
          <p:nvSpPr>
            <p:cNvPr id="164" name="Google Shape;164;p20"/>
            <p:cNvSpPr txBox="1"/>
            <p:nvPr/>
          </p:nvSpPr>
          <p:spPr>
            <a:xfrm flipH="1">
              <a:off x="3421350" y="3060744"/>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2000" b="1" dirty="0">
                  <a:solidFill>
                    <a:schemeClr val="lt2"/>
                  </a:solidFill>
                  <a:latin typeface="+mn-lt"/>
                  <a:ea typeface="Rajdhani" panose="02000000000000000000"/>
                  <a:cs typeface="Rajdhani" panose="02000000000000000000"/>
                  <a:sym typeface="Rajdhani" panose="02000000000000000000"/>
                </a:rPr>
                <a:t>Privacy Concerns</a:t>
              </a:r>
            </a:p>
          </p:txBody>
        </p:sp>
        <p:sp>
          <p:nvSpPr>
            <p:cNvPr id="171" name="Google Shape;171;p20"/>
            <p:cNvSpPr txBox="1"/>
            <p:nvPr/>
          </p:nvSpPr>
          <p:spPr>
            <a:xfrm flipH="1">
              <a:off x="3203540" y="3321729"/>
              <a:ext cx="2532861" cy="80264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Ethical issues arise from using micro-expression analysis without consent.</a:t>
              </a:r>
            </a:p>
          </p:txBody>
        </p:sp>
      </p:grpSp>
      <p:grpSp>
        <p:nvGrpSpPr>
          <p:cNvPr id="175" name="Google Shape;175;p20"/>
          <p:cNvGrpSpPr/>
          <p:nvPr/>
        </p:nvGrpSpPr>
        <p:grpSpPr>
          <a:xfrm>
            <a:off x="3113743" y="1968872"/>
            <a:ext cx="2391410" cy="1058545"/>
            <a:chOff x="721571" y="3060744"/>
            <a:chExt cx="2743387" cy="1058545"/>
          </a:xfrm>
        </p:grpSpPr>
        <p:sp>
          <p:nvSpPr>
            <p:cNvPr id="166" name="Google Shape;166;p20"/>
            <p:cNvSpPr txBox="1"/>
            <p:nvPr/>
          </p:nvSpPr>
          <p:spPr>
            <a:xfrm flipH="1">
              <a:off x="983089" y="3060744"/>
              <a:ext cx="2481141"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2000" b="1" dirty="0">
                  <a:solidFill>
                    <a:schemeClr val="lt2"/>
                  </a:solidFill>
                  <a:latin typeface="+mn-lt"/>
                  <a:ea typeface="Rajdhani" panose="02000000000000000000"/>
                  <a:cs typeface="Rajdhani" panose="02000000000000000000"/>
                  <a:sym typeface="Rajdhani" panose="02000000000000000000"/>
                </a:rPr>
                <a:t>Technical Constraints</a:t>
              </a:r>
            </a:p>
          </p:txBody>
        </p:sp>
        <p:sp>
          <p:nvSpPr>
            <p:cNvPr id="176" name="Google Shape;176;p20"/>
            <p:cNvSpPr txBox="1"/>
            <p:nvPr/>
          </p:nvSpPr>
          <p:spPr>
            <a:xfrm flipH="1">
              <a:off x="721571" y="3314744"/>
              <a:ext cx="2743387" cy="80454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Detecting micro-expressions requires accurate algorithms.</a:t>
              </a:r>
            </a:p>
          </p:txBody>
        </p:sp>
      </p:grpSp>
      <p:grpSp>
        <p:nvGrpSpPr>
          <p:cNvPr id="189" name="Google Shape;189;p20"/>
          <p:cNvGrpSpPr/>
          <p:nvPr/>
        </p:nvGrpSpPr>
        <p:grpSpPr>
          <a:xfrm>
            <a:off x="5996412" y="1968872"/>
            <a:ext cx="2475230" cy="1058545"/>
            <a:chOff x="5996412" y="1968872"/>
            <a:chExt cx="2475230" cy="1058545"/>
          </a:xfrm>
        </p:grpSpPr>
        <p:sp>
          <p:nvSpPr>
            <p:cNvPr id="190" name="Google Shape;190;p20"/>
            <p:cNvSpPr txBox="1"/>
            <p:nvPr/>
          </p:nvSpPr>
          <p:spPr>
            <a:xfrm flipH="1">
              <a:off x="5996412" y="1968872"/>
              <a:ext cx="247523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2000" b="1" dirty="0">
                  <a:solidFill>
                    <a:schemeClr val="lt2"/>
                  </a:solidFill>
                  <a:latin typeface="+mn-lt"/>
                  <a:ea typeface="Rajdhani" panose="02000000000000000000"/>
                  <a:cs typeface="Rajdhani" panose="02000000000000000000"/>
                  <a:sym typeface="Rajdhani" panose="02000000000000000000"/>
                </a:rPr>
                <a:t>Data Limitations</a:t>
              </a:r>
            </a:p>
          </p:txBody>
        </p:sp>
        <p:sp>
          <p:nvSpPr>
            <p:cNvPr id="191" name="Google Shape;191;p20"/>
            <p:cNvSpPr txBox="1"/>
            <p:nvPr/>
          </p:nvSpPr>
          <p:spPr>
            <a:xfrm flipH="1">
              <a:off x="5996412" y="2222872"/>
              <a:ext cx="2475230" cy="80454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There are not enough diverse examples of images or videos showing micro-expressions in different situations</a:t>
              </a:r>
            </a:p>
          </p:txBody>
        </p:sp>
      </p:grpSp>
      <p:cxnSp>
        <p:nvCxnSpPr>
          <p:cNvPr id="192" name="Google Shape;192;p20"/>
          <p:cNvCxnSpPr>
            <a:stCxn id="166" idx="1"/>
            <a:endCxn id="190" idx="3"/>
          </p:cNvCxnSpPr>
          <p:nvPr/>
        </p:nvCxnSpPr>
        <p:spPr>
          <a:xfrm>
            <a:off x="5504823" y="2197472"/>
            <a:ext cx="491490" cy="0"/>
          </a:xfrm>
          <a:prstGeom prst="straightConnector1">
            <a:avLst/>
          </a:prstGeom>
          <a:noFill/>
          <a:ln w="19050" cap="flat" cmpd="sng">
            <a:solidFill>
              <a:schemeClr val="lt2"/>
            </a:solidFill>
            <a:prstDash val="solid"/>
            <a:round/>
            <a:headEnd type="oval" w="med" len="med"/>
            <a:tailEnd type="oval" w="med" len="med"/>
          </a:ln>
        </p:spPr>
      </p:cxnSp>
      <p:cxnSp>
        <p:nvCxnSpPr>
          <p:cNvPr id="193" name="Google Shape;193;p20"/>
          <p:cNvCxnSpPr>
            <a:stCxn id="168" idx="3"/>
            <a:endCxn id="164" idx="1"/>
          </p:cNvCxnSpPr>
          <p:nvPr/>
        </p:nvCxnSpPr>
        <p:spPr>
          <a:xfrm flipH="1" flipV="1">
            <a:off x="5376017" y="3734660"/>
            <a:ext cx="461010" cy="6985"/>
          </a:xfrm>
          <a:prstGeom prst="straightConnector1">
            <a:avLst/>
          </a:prstGeom>
          <a:noFill/>
          <a:ln w="19050" cap="flat" cmpd="sng">
            <a:solidFill>
              <a:schemeClr val="lt2"/>
            </a:solidFill>
            <a:prstDash val="solid"/>
            <a:round/>
            <a:headEnd type="oval" w="med" len="med"/>
            <a:tailEnd type="oval"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Google Shape;1302;p43"/>
          <p:cNvSpPr txBox="1">
            <a:spLocks noGrp="1"/>
          </p:cNvSpPr>
          <p:nvPr>
            <p:ph type="title"/>
          </p:nvPr>
        </p:nvSpPr>
        <p:spPr>
          <a:xfrm>
            <a:off x="716389" y="383808"/>
            <a:ext cx="7703820" cy="86169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sz="3600" dirty="0">
                <a:latin typeface="Times New Roman" panose="02020603050405020304" charset="0"/>
                <a:cs typeface="Times New Roman" panose="02020603050405020304" charset="0"/>
              </a:rPr>
              <a:t>Future Research Directions</a:t>
            </a:r>
          </a:p>
        </p:txBody>
      </p:sp>
      <p:sp>
        <p:nvSpPr>
          <p:cNvPr id="1303" name="Google Shape;1303;p43"/>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1310" name="Google Shape;1310;p43"/>
          <p:cNvGrpSpPr/>
          <p:nvPr/>
        </p:nvGrpSpPr>
        <p:grpSpPr>
          <a:xfrm>
            <a:off x="797186" y="2400300"/>
            <a:ext cx="1847943" cy="1562476"/>
            <a:chOff x="713225" y="1791858"/>
            <a:chExt cx="2357070" cy="1562476"/>
          </a:xfrm>
        </p:grpSpPr>
        <p:sp>
          <p:nvSpPr>
            <p:cNvPr id="1311" name="Google Shape;1311;p43"/>
            <p:cNvSpPr txBox="1"/>
            <p:nvPr/>
          </p:nvSpPr>
          <p:spPr>
            <a:xfrm flipH="1">
              <a:off x="754895" y="1791858"/>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2000" b="1" dirty="0">
                  <a:solidFill>
                    <a:schemeClr val="lt2"/>
                  </a:solidFill>
                  <a:latin typeface="+mn-lt"/>
                  <a:ea typeface="Rajdhani" panose="02000000000000000000"/>
                  <a:cs typeface="Rajdhani" panose="02000000000000000000"/>
                  <a:sym typeface="Rajdhani" panose="02000000000000000000"/>
                </a:rPr>
                <a:t>Improving Algorithms</a:t>
              </a:r>
            </a:p>
          </p:txBody>
        </p:sp>
        <p:sp>
          <p:nvSpPr>
            <p:cNvPr id="1312" name="Google Shape;1312;p43"/>
            <p:cNvSpPr txBox="1"/>
            <p:nvPr/>
          </p:nvSpPr>
          <p:spPr>
            <a:xfrm flipH="1">
              <a:off x="713225" y="2166884"/>
              <a:ext cx="2315644" cy="118745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Develop more accurate algorithms for detecting micro-expressions.</a:t>
              </a:r>
            </a:p>
          </p:txBody>
        </p:sp>
      </p:grpSp>
      <p:sp>
        <p:nvSpPr>
          <p:cNvPr id="1313" name="Google Shape;1313;p43"/>
          <p:cNvSpPr txBox="1"/>
          <p:nvPr/>
        </p:nvSpPr>
        <p:spPr>
          <a:xfrm>
            <a:off x="1320822" y="3808963"/>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1314" name="Google Shape;1314;p43"/>
          <p:cNvGrpSpPr/>
          <p:nvPr/>
        </p:nvGrpSpPr>
        <p:grpSpPr>
          <a:xfrm>
            <a:off x="2615214" y="2429942"/>
            <a:ext cx="2067560" cy="1121461"/>
            <a:chOff x="552318" y="2141065"/>
            <a:chExt cx="2637193" cy="1487642"/>
          </a:xfrm>
        </p:grpSpPr>
        <p:sp>
          <p:nvSpPr>
            <p:cNvPr id="1315" name="Google Shape;1315;p43"/>
            <p:cNvSpPr txBox="1"/>
            <p:nvPr/>
          </p:nvSpPr>
          <p:spPr>
            <a:xfrm flipH="1">
              <a:off x="552318" y="2141065"/>
              <a:ext cx="2637193"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2000" b="1" dirty="0">
                  <a:solidFill>
                    <a:schemeClr val="lt2"/>
                  </a:solidFill>
                  <a:latin typeface="+mn-lt"/>
                  <a:ea typeface="Rajdhani" panose="02000000000000000000"/>
                  <a:cs typeface="Rajdhani" panose="02000000000000000000"/>
                  <a:sym typeface="Rajdhani" panose="02000000000000000000"/>
                </a:rPr>
                <a:t>Establishing Ethical Rules</a:t>
              </a:r>
            </a:p>
          </p:txBody>
        </p:sp>
        <p:sp>
          <p:nvSpPr>
            <p:cNvPr id="1316" name="Google Shape;1316;p43"/>
            <p:cNvSpPr txBox="1"/>
            <p:nvPr/>
          </p:nvSpPr>
          <p:spPr>
            <a:xfrm flipH="1">
              <a:off x="702650" y="2513012"/>
              <a:ext cx="2315645" cy="11156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Ensure responsible use and protect privacy.</a:t>
              </a:r>
            </a:p>
          </p:txBody>
        </p:sp>
      </p:grpSp>
      <p:grpSp>
        <p:nvGrpSpPr>
          <p:cNvPr id="1318" name="Google Shape;1318;p43"/>
          <p:cNvGrpSpPr/>
          <p:nvPr/>
        </p:nvGrpSpPr>
        <p:grpSpPr>
          <a:xfrm>
            <a:off x="4511436" y="2237291"/>
            <a:ext cx="2043430" cy="2128468"/>
            <a:chOff x="574638" y="1632688"/>
            <a:chExt cx="2606415" cy="2128468"/>
          </a:xfrm>
        </p:grpSpPr>
        <p:sp>
          <p:nvSpPr>
            <p:cNvPr id="1319" name="Google Shape;1319;p43"/>
            <p:cNvSpPr txBox="1"/>
            <p:nvPr/>
          </p:nvSpPr>
          <p:spPr>
            <a:xfrm flipH="1">
              <a:off x="574638" y="1632688"/>
              <a:ext cx="2606415" cy="1124617"/>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2000" b="1" dirty="0">
                  <a:solidFill>
                    <a:schemeClr val="lt2"/>
                  </a:solidFill>
                  <a:latin typeface="+mn-lt"/>
                  <a:ea typeface="Rajdhani" panose="02000000000000000000"/>
                  <a:cs typeface="Rajdhani" panose="02000000000000000000"/>
                  <a:sym typeface="Rajdhani" panose="02000000000000000000"/>
                </a:rPr>
                <a:t>Adapting to Dynamic Environment</a:t>
              </a:r>
            </a:p>
          </p:txBody>
        </p:sp>
        <p:sp>
          <p:nvSpPr>
            <p:cNvPr id="1320" name="Google Shape;1320;p43"/>
            <p:cNvSpPr txBox="1"/>
            <p:nvPr/>
          </p:nvSpPr>
          <p:spPr>
            <a:xfrm flipH="1">
              <a:off x="713038" y="2607996"/>
              <a:ext cx="2315643" cy="115316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Improve systems to work in crowded places and with moving individuals.</a:t>
              </a:r>
            </a:p>
          </p:txBody>
        </p:sp>
      </p:grpSp>
      <p:sp>
        <p:nvSpPr>
          <p:cNvPr id="1321" name="Google Shape;1321;p43"/>
          <p:cNvSpPr txBox="1"/>
          <p:nvPr/>
        </p:nvSpPr>
        <p:spPr>
          <a:xfrm>
            <a:off x="5143726" y="3808963"/>
            <a:ext cx="768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1322" name="Google Shape;1322;p43"/>
          <p:cNvSpPr/>
          <p:nvPr/>
        </p:nvSpPr>
        <p:spPr>
          <a:xfrm rot="10800000">
            <a:off x="6484674" y="2871507"/>
            <a:ext cx="1909006" cy="955096"/>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solidFill>
            <a:schemeClr val="lt2"/>
          </a:solidFill>
          <a:ln w="19050" cap="rnd" cmpd="sng">
            <a:solidFill>
              <a:schemeClr val="lt2"/>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3"/>
          <p:cNvSpPr/>
          <p:nvPr/>
        </p:nvSpPr>
        <p:spPr>
          <a:xfrm rot="10800000">
            <a:off x="4573270" y="1927860"/>
            <a:ext cx="1908810" cy="1402080"/>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solidFill>
            <a:schemeClr val="lt2"/>
          </a:solidFill>
          <a:ln w="19050" cap="rnd" cmpd="sng">
            <a:solidFill>
              <a:schemeClr val="lt2"/>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3"/>
          <p:cNvSpPr/>
          <p:nvPr/>
        </p:nvSpPr>
        <p:spPr>
          <a:xfrm rot="10800000">
            <a:off x="2661771" y="2871507"/>
            <a:ext cx="1909006" cy="955096"/>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solidFill>
            <a:schemeClr val="lt2"/>
          </a:solidFill>
          <a:ln w="19050" cap="rnd" cmpd="sng">
            <a:solidFill>
              <a:schemeClr val="lt2"/>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3"/>
          <p:cNvSpPr/>
          <p:nvPr/>
        </p:nvSpPr>
        <p:spPr>
          <a:xfrm rot="10800000">
            <a:off x="750298" y="1927914"/>
            <a:ext cx="1909049" cy="953666"/>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solidFill>
            <a:schemeClr val="lt2"/>
          </a:solidFill>
          <a:ln w="19050" cap="rnd" cmpd="sng">
            <a:solidFill>
              <a:schemeClr val="lt2"/>
            </a:solidFill>
            <a:prstDash val="dash"/>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3"/>
          <p:cNvSpPr/>
          <p:nvPr/>
        </p:nvSpPr>
        <p:spPr>
          <a:xfrm rot="10800000">
            <a:off x="6397730" y="2776039"/>
            <a:ext cx="159037" cy="159009"/>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3"/>
          <p:cNvSpPr/>
          <p:nvPr/>
        </p:nvSpPr>
        <p:spPr>
          <a:xfrm rot="10800000">
            <a:off x="4488802" y="2776039"/>
            <a:ext cx="158994" cy="159009"/>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3"/>
          <p:cNvSpPr/>
          <p:nvPr/>
        </p:nvSpPr>
        <p:spPr>
          <a:xfrm rot="10800000">
            <a:off x="2579832" y="2776039"/>
            <a:ext cx="158994" cy="159009"/>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1" name="Google Shape;1331;p43"/>
          <p:cNvGrpSpPr/>
          <p:nvPr/>
        </p:nvGrpSpPr>
        <p:grpSpPr>
          <a:xfrm>
            <a:off x="6194119" y="1895892"/>
            <a:ext cx="2744835" cy="1787767"/>
            <a:chOff x="282841" y="2135842"/>
            <a:chExt cx="3501065" cy="1787767"/>
          </a:xfrm>
        </p:grpSpPr>
        <p:sp>
          <p:nvSpPr>
            <p:cNvPr id="1332" name="Google Shape;1332;p43"/>
            <p:cNvSpPr txBox="1"/>
            <p:nvPr/>
          </p:nvSpPr>
          <p:spPr>
            <a:xfrm flipH="1">
              <a:off x="282841" y="2135842"/>
              <a:ext cx="3501065" cy="733007"/>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altLang="en-US" sz="2000" b="1" dirty="0">
                  <a:solidFill>
                    <a:schemeClr val="lt2"/>
                  </a:solidFill>
                  <a:latin typeface="+mn-lt"/>
                  <a:ea typeface="Rajdhani" panose="02000000000000000000"/>
                  <a:cs typeface="Rajdhani" panose="02000000000000000000"/>
                  <a:sym typeface="Rajdhani" panose="02000000000000000000"/>
                </a:rPr>
                <a:t>Integration with Multimodal System</a:t>
              </a:r>
            </a:p>
          </p:txBody>
        </p:sp>
        <p:sp>
          <p:nvSpPr>
            <p:cNvPr id="1333" name="Google Shape;1333;p43"/>
            <p:cNvSpPr txBox="1"/>
            <p:nvPr/>
          </p:nvSpPr>
          <p:spPr>
            <a:xfrm flipH="1">
              <a:off x="687550" y="2699329"/>
              <a:ext cx="2441186" cy="122428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dirty="0">
                  <a:solidFill>
                    <a:schemeClr val="lt2"/>
                  </a:solidFill>
                  <a:latin typeface="Fira Sans Condensed" panose="020B0503050000020004"/>
                  <a:ea typeface="Fira Sans Condensed" panose="020B0503050000020004"/>
                  <a:cs typeface="Fira Sans Condensed" panose="020B0503050000020004"/>
                  <a:sym typeface="Fira Sans Condensed" panose="020B0503050000020004"/>
                </a:rPr>
                <a:t>Use micro-expressions along with other information, like voice tone and body movements.</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26"/>
          <p:cNvSpPr txBox="1">
            <a:spLocks noGrp="1"/>
          </p:cNvSpPr>
          <p:nvPr>
            <p:ph type="title"/>
          </p:nvPr>
        </p:nvSpPr>
        <p:spPr>
          <a:xfrm>
            <a:off x="607366" y="23402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sz="4000" dirty="0">
                <a:latin typeface="Times New Roman" panose="02020603050405020304" charset="0"/>
                <a:cs typeface="Times New Roman" panose="02020603050405020304" charset="0"/>
              </a:rPr>
              <a:t>Conclusion</a:t>
            </a:r>
          </a:p>
        </p:txBody>
      </p:sp>
      <p:pic>
        <p:nvPicPr>
          <p:cNvPr id="495" name="Google Shape;495;p26"/>
          <p:cNvPicPr preferRelativeResize="0"/>
          <p:nvPr/>
        </p:nvPicPr>
        <p:blipFill>
          <a:blip r:embed="rId3"/>
          <a:stretch>
            <a:fillRect/>
          </a:stretch>
        </p:blipFill>
        <p:spPr>
          <a:xfrm>
            <a:off x="3211336" y="2224100"/>
            <a:ext cx="2721328" cy="1570351"/>
          </a:xfrm>
          <a:prstGeom prst="rect">
            <a:avLst/>
          </a:prstGeom>
          <a:noFill/>
          <a:ln>
            <a:noFill/>
          </a:ln>
        </p:spPr>
      </p:pic>
      <p:sp>
        <p:nvSpPr>
          <p:cNvPr id="496" name="Google Shape;496;p26"/>
          <p:cNvSpPr txBox="1"/>
          <p:nvPr/>
        </p:nvSpPr>
        <p:spPr>
          <a:xfrm>
            <a:off x="3402450" y="1178275"/>
            <a:ext cx="23391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505" name="Google Shape;505;p26"/>
          <p:cNvSpPr txBox="1"/>
          <p:nvPr/>
        </p:nvSpPr>
        <p:spPr>
          <a:xfrm flipH="1">
            <a:off x="381635" y="1402080"/>
            <a:ext cx="2542540" cy="314769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sz="1700" b="1" dirty="0">
                <a:solidFill>
                  <a:schemeClr val="lt2"/>
                </a:solidFill>
                <a:latin typeface="Times New Roman" panose="02020603050405020304" charset="0"/>
                <a:ea typeface="Fira Sans Condensed" panose="020B0503050000020004"/>
                <a:cs typeface="Times New Roman" panose="02020603050405020304" charset="0"/>
                <a:sym typeface="Fira Sans Condensed" panose="020B0503050000020004"/>
              </a:rPr>
              <a:t>Facial micro-expressions are an advanced technology that could transform identity verification and enhance digital security. Despite challenges in real-world application, they offer significant opportunities to improve authentication methods and protect sensitive information. </a:t>
            </a:r>
          </a:p>
        </p:txBody>
      </p:sp>
      <p:sp>
        <p:nvSpPr>
          <p:cNvPr id="507" name="Google Shape;507;p26"/>
          <p:cNvSpPr txBox="1"/>
          <p:nvPr/>
        </p:nvSpPr>
        <p:spPr>
          <a:xfrm flipH="1">
            <a:off x="6219825" y="1755140"/>
            <a:ext cx="2001520" cy="44958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grpSp>
        <p:nvGrpSpPr>
          <p:cNvPr id="509" name="Google Shape;509;p26"/>
          <p:cNvGrpSpPr/>
          <p:nvPr/>
        </p:nvGrpSpPr>
        <p:grpSpPr>
          <a:xfrm>
            <a:off x="6220044" y="1635534"/>
            <a:ext cx="2321560" cy="2914015"/>
            <a:chOff x="6110725" y="1668279"/>
            <a:chExt cx="2685437" cy="2914015"/>
          </a:xfrm>
        </p:grpSpPr>
        <p:sp>
          <p:nvSpPr>
            <p:cNvPr id="510" name="Google Shape;510;p26"/>
            <p:cNvSpPr txBox="1"/>
            <p:nvPr/>
          </p:nvSpPr>
          <p:spPr>
            <a:xfrm flipH="1">
              <a:off x="6110725" y="2813819"/>
              <a:ext cx="23154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sp>
          <p:nvSpPr>
            <p:cNvPr id="511" name="Google Shape;511;p26"/>
            <p:cNvSpPr txBox="1"/>
            <p:nvPr/>
          </p:nvSpPr>
          <p:spPr>
            <a:xfrm flipH="1">
              <a:off x="6287012" y="1668279"/>
              <a:ext cx="2509150" cy="291401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sz="1800" b="1">
                  <a:solidFill>
                    <a:schemeClr val="lt2"/>
                  </a:solidFill>
                  <a:latin typeface="Times New Roman" panose="02020603050405020304" charset="0"/>
                  <a:ea typeface="Fira Sans Condensed" panose="020B0503050000020004"/>
                  <a:cs typeface="Times New Roman" panose="02020603050405020304" charset="0"/>
                  <a:sym typeface="Fira Sans Condensed" panose="020B0503050000020004"/>
                </a:rPr>
                <a:t>As research progresses, micro-expressions could become a crucial part of future biometric systems, paving the way for more accurate and reliable security solutions.</a:t>
              </a:r>
            </a:p>
          </p:txBody>
        </p:sp>
      </p:grpSp>
      <p:sp>
        <p:nvSpPr>
          <p:cNvPr id="513" name="Google Shape;513;p26"/>
          <p:cNvSpPr txBox="1"/>
          <p:nvPr/>
        </p:nvSpPr>
        <p:spPr>
          <a:xfrm flipH="1">
            <a:off x="6219825" y="3811270"/>
            <a:ext cx="200152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2400" b="1">
              <a:solidFill>
                <a:schemeClr val="lt2"/>
              </a:solidFill>
              <a:latin typeface="Rajdhani" panose="02000000000000000000"/>
              <a:ea typeface="Rajdhani" panose="02000000000000000000"/>
              <a:cs typeface="Rajdhani" panose="02000000000000000000"/>
              <a:sym typeface="Rajdhani" panose="02000000000000000000"/>
            </a:endParaRPr>
          </a:p>
        </p:txBody>
      </p:sp>
      <p:cxnSp>
        <p:nvCxnSpPr>
          <p:cNvPr id="515" name="Google Shape;515;p26"/>
          <p:cNvCxnSpPr>
            <a:stCxn id="498" idx="1"/>
            <a:endCxn id="495" idx="0"/>
          </p:cNvCxnSpPr>
          <p:nvPr/>
        </p:nvCxnSpPr>
        <p:spPr>
          <a:xfrm>
            <a:off x="2923937" y="1979900"/>
            <a:ext cx="1648200" cy="244200"/>
          </a:xfrm>
          <a:prstGeom prst="bentConnector2">
            <a:avLst/>
          </a:prstGeom>
          <a:noFill/>
          <a:ln w="19050" cap="flat" cmpd="sng">
            <a:solidFill>
              <a:schemeClr val="lt2"/>
            </a:solidFill>
            <a:prstDash val="solid"/>
            <a:round/>
            <a:headEnd type="oval" w="med" len="med"/>
            <a:tailEnd type="none" w="med" len="med"/>
          </a:ln>
        </p:spPr>
      </p:cxnSp>
      <p:cxnSp>
        <p:nvCxnSpPr>
          <p:cNvPr id="516" name="Google Shape;516;p26"/>
          <p:cNvCxnSpPr>
            <a:stCxn id="495" idx="0"/>
            <a:endCxn id="507" idx="3"/>
          </p:cNvCxnSpPr>
          <p:nvPr/>
        </p:nvCxnSpPr>
        <p:spPr>
          <a:xfrm rot="-5400000">
            <a:off x="5273850" y="1278050"/>
            <a:ext cx="244200" cy="1647900"/>
          </a:xfrm>
          <a:prstGeom prst="bentConnector2">
            <a:avLst/>
          </a:prstGeom>
          <a:noFill/>
          <a:ln w="19050" cap="flat" cmpd="sng">
            <a:solidFill>
              <a:schemeClr val="lt2"/>
            </a:solidFill>
            <a:prstDash val="solid"/>
            <a:round/>
            <a:headEnd type="none" w="med" len="med"/>
            <a:tailEnd type="oval" w="med" len="med"/>
          </a:ln>
        </p:spPr>
      </p:cxnSp>
      <p:cxnSp>
        <p:nvCxnSpPr>
          <p:cNvPr id="517" name="Google Shape;517;p26"/>
          <p:cNvCxnSpPr>
            <a:stCxn id="504" idx="1"/>
            <a:endCxn id="495" idx="2"/>
          </p:cNvCxnSpPr>
          <p:nvPr/>
        </p:nvCxnSpPr>
        <p:spPr>
          <a:xfrm rot="10800000" flipH="1">
            <a:off x="2923937" y="3794374"/>
            <a:ext cx="1648200" cy="245400"/>
          </a:xfrm>
          <a:prstGeom prst="bentConnector2">
            <a:avLst/>
          </a:prstGeom>
          <a:noFill/>
          <a:ln w="19050" cap="flat" cmpd="sng">
            <a:solidFill>
              <a:schemeClr val="lt2"/>
            </a:solidFill>
            <a:prstDash val="solid"/>
            <a:round/>
            <a:headEnd type="oval" w="med" len="med"/>
            <a:tailEnd type="none" w="med" len="med"/>
          </a:ln>
        </p:spPr>
      </p:cxnSp>
      <p:cxnSp>
        <p:nvCxnSpPr>
          <p:cNvPr id="518" name="Google Shape;518;p26"/>
          <p:cNvCxnSpPr>
            <a:stCxn id="495" idx="2"/>
            <a:endCxn id="513" idx="3"/>
          </p:cNvCxnSpPr>
          <p:nvPr/>
        </p:nvCxnSpPr>
        <p:spPr>
          <a:xfrm rot="-5400000" flipH="1">
            <a:off x="5273250" y="3093201"/>
            <a:ext cx="245400" cy="1647900"/>
          </a:xfrm>
          <a:prstGeom prst="bentConnector2">
            <a:avLst/>
          </a:prstGeom>
          <a:noFill/>
          <a:ln w="19050" cap="flat" cmpd="sng">
            <a:solidFill>
              <a:schemeClr val="lt2"/>
            </a:solidFill>
            <a:prstDash val="solid"/>
            <a:round/>
            <a:headEnd type="none" w="med" len="med"/>
            <a:tailEnd type="oval" w="med" len="med"/>
          </a:ln>
        </p:spPr>
      </p:cxnSp>
      <p:cxnSp>
        <p:nvCxnSpPr>
          <p:cNvPr id="519" name="Google Shape;519;p26"/>
          <p:cNvCxnSpPr>
            <a:stCxn id="501" idx="1"/>
            <a:endCxn id="495" idx="1"/>
          </p:cNvCxnSpPr>
          <p:nvPr/>
        </p:nvCxnSpPr>
        <p:spPr>
          <a:xfrm>
            <a:off x="2923937" y="3007985"/>
            <a:ext cx="287400" cy="1200"/>
          </a:xfrm>
          <a:prstGeom prst="bentConnector3">
            <a:avLst>
              <a:gd name="adj1" fmla="val 50000"/>
            </a:avLst>
          </a:prstGeom>
          <a:noFill/>
          <a:ln w="19050" cap="flat" cmpd="sng">
            <a:solidFill>
              <a:schemeClr val="lt2"/>
            </a:solidFill>
            <a:prstDash val="solid"/>
            <a:round/>
            <a:headEnd type="oval" w="med" len="med"/>
            <a:tailEnd type="none" w="med" len="med"/>
          </a:ln>
        </p:spPr>
      </p:cxnSp>
      <p:cxnSp>
        <p:nvCxnSpPr>
          <p:cNvPr id="520" name="Google Shape;520;p26"/>
          <p:cNvCxnSpPr>
            <a:stCxn id="495" idx="3"/>
            <a:endCxn id="510" idx="3"/>
          </p:cNvCxnSpPr>
          <p:nvPr/>
        </p:nvCxnSpPr>
        <p:spPr>
          <a:xfrm>
            <a:off x="5932805" y="3009900"/>
            <a:ext cx="287655" cy="3175"/>
          </a:xfrm>
          <a:prstGeom prst="bentConnector2">
            <a:avLst/>
          </a:prstGeom>
          <a:noFill/>
          <a:ln w="19050" cap="flat" cmpd="sng">
            <a:solidFill>
              <a:schemeClr val="lt2"/>
            </a:solidFill>
            <a:prstDash val="solid"/>
            <a:round/>
            <a:headEnd type="none" w="med" len="med"/>
            <a:tailEnd type="oval" w="med" len="med"/>
          </a:ln>
        </p:spPr>
      </p:cxnSp>
      <p:sp>
        <p:nvSpPr>
          <p:cNvPr id="3" name="TextBox 2">
            <a:extLst>
              <a:ext uri="{FF2B5EF4-FFF2-40B4-BE49-F238E27FC236}">
                <a16:creationId xmlns:a16="http://schemas.microsoft.com/office/drawing/2014/main" id="{3C4EDC8F-988F-1B26-10E9-519EC14F84C3}"/>
              </a:ext>
            </a:extLst>
          </p:cNvPr>
          <p:cNvSpPr txBox="1"/>
          <p:nvPr/>
        </p:nvSpPr>
        <p:spPr>
          <a:xfrm>
            <a:off x="1952820" y="940376"/>
            <a:ext cx="5787025" cy="307777"/>
          </a:xfrm>
          <a:prstGeom prst="rect">
            <a:avLst/>
          </a:prstGeom>
          <a:noFill/>
        </p:spPr>
        <p:txBody>
          <a:bodyPr wrap="square">
            <a:spAutoFit/>
          </a:bodyPr>
          <a:lstStyle/>
          <a:p>
            <a:r>
              <a:rPr lang="en-US" dirty="0">
                <a:solidFill>
                  <a:schemeClr val="tx2"/>
                </a:solidFill>
                <a:latin typeface="Fira Sans Condensed" panose="020B0503050000020004" pitchFamily="34" charset="0"/>
              </a:rPr>
              <a:t>Micro-expressions reveal hidden emotions and have broad applications.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24915" y="1418590"/>
            <a:ext cx="6557645" cy="2306320"/>
          </a:xfrm>
        </p:spPr>
        <p:txBody>
          <a:bodyPr/>
          <a:lstStyle/>
          <a:p>
            <a:r>
              <a:rPr lang="en-US">
                <a:latin typeface="Times New Roman" panose="02020603050405020304" charset="0"/>
                <a:cs typeface="Times New Roman" panose="02020603050405020304" charset="0"/>
              </a:rPr>
              <a:t>Thank you!</a:t>
            </a:r>
          </a:p>
        </p:txBody>
      </p:sp>
    </p:spTree>
  </p:cSld>
  <p:clrMapOvr>
    <a:masterClrMapping/>
  </p:clrMapOvr>
</p:sld>
</file>

<file path=ppt/theme/theme1.xml><?xml version="1.0" encoding="utf-8"?>
<a:theme xmlns:a="http://schemas.openxmlformats.org/drawingml/2006/main" name="AI Tech Agency Infographics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347</TotalTime>
  <Words>1011</Words>
  <Application>Microsoft Office PowerPoint</Application>
  <PresentationFormat>On-screen Show (16:9)</PresentationFormat>
  <Paragraphs>94</Paragraphs>
  <Slides>19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Fira Sans Condensed</vt:lpstr>
      <vt:lpstr>Anaheim</vt:lpstr>
      <vt:lpstr>Fira Sans Condensed Light</vt:lpstr>
      <vt:lpstr>Arial</vt:lpstr>
      <vt:lpstr>Roboto Condensed Light</vt:lpstr>
      <vt:lpstr>Times New Roman</vt:lpstr>
      <vt:lpstr>Rajdhani</vt:lpstr>
      <vt:lpstr>Farsi Simple Bold</vt:lpstr>
      <vt:lpstr>AI Tech Agency Infographics by Slidesgo</vt:lpstr>
      <vt:lpstr>Facial           Micro              Expressions</vt:lpstr>
      <vt:lpstr>ABOUT Facial Micro-Expressions</vt:lpstr>
      <vt:lpstr>PowerPoint Presentation</vt:lpstr>
      <vt:lpstr> History &amp; Scientific Experiments</vt:lpstr>
      <vt:lpstr>Why Facial Micro-Expressions Importance in Security?</vt:lpstr>
      <vt:lpstr>Facial Micro-Expressions Applications In  Real World</vt:lpstr>
      <vt:lpstr>Micro-Expressions vs. Macro-Expressions</vt:lpstr>
      <vt:lpstr>PowerPoint Presentation</vt:lpstr>
      <vt:lpstr>Classification of Micro-Expression Datasets </vt:lpstr>
      <vt:lpstr>PowerPoint Presentation</vt:lpstr>
      <vt:lpstr>PowerPoint Presentation</vt:lpstr>
      <vt:lpstr>PowerPoint Presentation</vt:lpstr>
      <vt:lpstr>Machine Learning Models Used:  Extreme Learning Machine (ELM): Fast learning speed and high accuracy. Support Vector Machine (SVM): Used as a baseline model.  Feature Extraction Methods:  LBP (Local Binary Pattern) – Apex frames. LBP-TOP (Three Orthogonal Planes) – Spatiotemporal features.  </vt:lpstr>
      <vt:lpstr>PowerPoint Presentation</vt:lpstr>
      <vt:lpstr>Challenges Of Facial Micro-Expressions </vt:lpstr>
      <vt:lpstr>Limitations Of Facial Micro-Expressions</vt:lpstr>
      <vt:lpstr>Future Research Directions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Facial  Micro Expressions</dc:title>
  <dc:creator>JEANINE JABER</dc:creator>
  <cp:lastModifiedBy>jaber naiel</cp:lastModifiedBy>
  <cp:revision>32</cp:revision>
  <dcterms:created xsi:type="dcterms:W3CDTF">2025-01-11T17:43:00Z</dcterms:created>
  <dcterms:modified xsi:type="dcterms:W3CDTF">2025-01-12T22:31:52Z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1F9423182AA744DEA1EE4DB26E224B43_13</vt:lpwstr>
  </property>
  <property fmtid="{D5CDD505-2E9C-101B-9397-08002B2CF9AE}" pid="3" name="KSOProductBuildVer">
    <vt:lpwstr>1033-12.2.0.19805</vt:lpwstr>
  </property>
</Properties>
</file>